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886274-7734-78fb-d5a9-964b8b3e6e85}">
          <p14:sldIdLst>
            <p14:sldId id="256"/>
          </p14:sldIdLst>
        </p14:section>
        <p14:section name="Problem and users" id="{eda9ecbe-232b-dd9d-b3c4-8652a3b08cd1}">
          <p14:sldIdLst>
            <p14:sldId id="257"/>
            <p14:sldId id="258"/>
            <p14:sldId id="259"/>
          </p14:sldIdLst>
        </p14:section>
        <p14:section name="Solution" id="{6fcfae29-0ddb-f0db-5ad2-d4879d8461c0}">
          <p14:sldIdLst>
            <p14:sldId id="260"/>
            <p14:sldId id="261"/>
            <p14:sldId id="262"/>
          </p14:sldIdLst>
        </p14:section>
        <p14:section name="Proof" id="{4ece40d5-ba16-df8c-e09f-84ca3f2aa28f}">
          <p14:sldIdLst>
            <p14:sldId id="263"/>
            <p14:sldId id="26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Highest quote</c:v>
                </c:pt>
              </c:strCache>
            </c:strRef>
          </c:tx>
          <c:spPr>
            <a:solidFill>
              <a:srgbClr val="AAB4C6"/>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F2342"/>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120 racks
13.2% saved</c:v>
                </c:pt>
                <c:pt idx="1">
                  <c:v>Fasteners
11.5% saved</c:v>
                </c:pt>
                <c:pt idx="2">
                  <c:v>500 chairs
6.1% saved</c:v>
                </c:pt>
                <c:pt idx="3">
                  <c:v>250 desks (auction)
13.4% saved</c:v>
                </c:pt>
              </c:strCache>
            </c:strRef>
          </c:cat>
          <c:val>
            <c:numRef>
              <c:f>Sheet1!$B$2:$B$5</c:f>
              <c:numCache>
                <c:formatCode>General</c:formatCode>
                <c:ptCount val="4"/>
                <c:pt idx="0">
                  <c:v>21.2</c:v>
                </c:pt>
                <c:pt idx="1">
                  <c:v>10.85</c:v>
                </c:pt>
                <c:pt idx="2">
                  <c:v>26.1</c:v>
                </c:pt>
                <c:pt idx="3">
                  <c:v>34.8</c:v>
                </c:pt>
              </c:numCache>
            </c:numRef>
          </c:val>
        </c:ser>
        <c:ser>
          <c:idx val="1"/>
          <c:order val="1"/>
          <c:tx>
            <c:strRef>
              <c:f>Sheet1!$C$1</c:f>
              <c:strCache>
                <c:ptCount val="1"/>
                <c:pt idx="0">
                  <c:v>Awarded quote</c:v>
                </c:pt>
              </c:strCache>
            </c:strRef>
          </c:tx>
          <c:spPr>
            <a:solidFill>
              <a:srgbClr val="E8871E"/>
            </a:solidFill>
            <a:effectLst/>
          </c:spPr>
          <c:invertIfNegative val="0"/>
          <c:dLbls>
            <c:numFmt formatCode="0.0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F2342"/>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Sheet1!$A$2:$A$5</c:f>
              <c:strCache>
                <c:ptCount val="4"/>
                <c:pt idx="0">
                  <c:v>120 racks
13.2% saved</c:v>
                </c:pt>
                <c:pt idx="1">
                  <c:v>Fasteners
11.5% saved</c:v>
                </c:pt>
                <c:pt idx="2">
                  <c:v>500 chairs
6.1% saved</c:v>
                </c:pt>
                <c:pt idx="3">
                  <c:v>250 desks (auction)
13.4% saved</c:v>
                </c:pt>
              </c:strCache>
            </c:strRef>
          </c:cat>
          <c:val>
            <c:numRef>
              <c:f>Sheet1!$C$2:$C$5</c:f>
              <c:numCache>
                <c:formatCode>General</c:formatCode>
                <c:ptCount val="4"/>
                <c:pt idx="0">
                  <c:v>18.4</c:v>
                </c:pt>
                <c:pt idx="1">
                  <c:v>9.6</c:v>
                </c:pt>
                <c:pt idx="2">
                  <c:v>24.5</c:v>
                </c:pt>
                <c:pt idx="3">
                  <c:v>30.12</c:v>
                </c:pt>
              </c:numCache>
            </c:numRef>
          </c:val>
        </c:ser>
        <c:dLbls>
          <c:showLegendKey val="0"/>
          <c:showVal val="1"/>
          <c:showCatName val="0"/>
          <c:showSerName val="0"/>
          <c:showPercent val="0"/>
          <c:showBubbleSize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0F2342"/>
                </a:solidFill>
                <a:latin typeface="+mn-lt"/>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noFill/>
        <a:ln>
          <a:noFill/>
        </a:ln>
        <a:effectLst/>
      </c:spPr>
    </c:plotArea>
    <c:legend>
      <c:legendPos val="b"/>
      <c:layout/>
      <c:overlay val="0"/>
      <c:txPr>
        <a:bodyPr rot="0" spcFirstLastPara="0" vertOverflow="ellipsis" vert="horz" wrap="square" anchor="ctr" anchorCtr="1"/>
        <a:lstStyle/>
        <a:p>
          <a:pPr>
            <a:defRPr lang="en-US" sz="1200" b="0" i="0" u="none" strike="noStrike" kern="1200" baseline="0">
              <a:solidFill>
                <a:srgbClr val="0F2342"/>
              </a:solidFill>
              <a:latin typeface="+mn-lt"/>
              <a:ea typeface="+mn-ea"/>
              <a:cs typeface="+mn-lt"/>
            </a:defRPr>
          </a:pPr>
        </a:p>
      </c:txPr>
    </c:legend>
    <c:plotVisOnly val="1"/>
    <c:dispBlanksAs val="span"/>
    <c:showDLblsOverMax val="0"/>
    <c:extLst>
      <c:ext uri="{0b15fc19-7d7d-44ad-8c2d-2c3a37ce22c3}">
        <chartProps xmlns="https://web.wps.cn/et/2018/main" chartId="{4529ec15-27e8-461a-9175-6ed7cc806654}"/>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you say what you need to buy, the agent emails suppliers, reads quotes, recommends one, and watches the payment deadline. It is working software, code is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problems in one. Buying is manual and unstructured. And since FY 2023-24, paying a micro or small supplier beyond 45 days (15 without a written term) makes that expense non-deductible until paid. There is no alert on day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buyer is the person who IS the procurement department. The supplier never has to adopt anything, which is why this can actually spread.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property rules out a simpler tool. This is the answer to "why not just a form or a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example: one sentence in, RFP out, PDFs read, ranking back with reasons. Changing the delivery weight reorders the ranking. Every purchase order passes an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memory and retrieval feed the agent, the agent calls 17 tools. Anything involving money passes through the green trust boundary, which is plain code with no model in the path. Three human approval gates sit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Two approval gates. An unreadable field comes back as null with low confidence, never a guess. Scoring and tax checks never touch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for the rubric: planning, decision-making, multi-step execution, tool use, evaluation, adaptation. Each has one concrete proof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come from buying on merit, not first reply. The bigger number is the tax exposure from one late payment. Be ready to say these figures come from test requirements run through the live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342"/>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731520" y="1600200"/>
            <a:ext cx="6400800" cy="1371600"/>
          </a:xfrm>
          <a:prstGeom prst="rect">
            <a:avLst/>
          </a:prstGeom>
          <a:noFill/>
        </p:spPr>
        <p:txBody>
          <a:bodyPr wrap="square" rtlCol="0"/>
          <a:lstStyle>
            <a:lvl1pPr marL="0" indent="0" algn="l">
              <a:buNone/>
              <a:defRPr lang="en-US" sz="8400" b="1" dirty="0">
                <a:solidFill>
                  <a:schemeClr val="bg1"/>
                </a:solidFill>
              </a:defRPr>
            </a:lvl1pPr>
          </a:lstStyle>
          <a:p>
            <a:pPr marL="0" indent="0" algn="l">
              <a:buNone/>
            </a:pPr>
            <a:endParaRPr lang="en-US" sz="8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658368"/>
            <a:ext cx="11091672" cy="731520"/>
          </a:xfrm>
          <a:prstGeom prst="rect">
            <a:avLst/>
          </a:prstGeom>
          <a:noFill/>
        </p:spPr>
        <p:txBody>
          <a:bodyPr wrap="square" rtlCol="0"/>
          <a:lstStyle>
            <a:lvl1pPr marL="0" indent="0" algn="l">
              <a:buNone/>
              <a:defRPr lang="en-US" sz="3400" b="1" dirty="0">
                <a:solidFill>
                  <a:schemeClr val="tx1"/>
                </a:solidFill>
              </a:defRPr>
            </a:lvl1pPr>
          </a:lstStyle>
          <a:p>
            <a:pPr marL="0" indent="0" algn="l">
              <a:buNone/>
            </a:pPr>
            <a:endParaRPr lang="en-US" sz="3400" dirty="0"/>
          </a:p>
        </p:txBody>
      </p:sp>
      <p:sp>
        <p:nvSpPr>
          <p:cNvPr id="3" name="Text 0"/>
          <p:cNvSpPr/>
          <p:nvPr/>
        </p:nvSpPr>
        <p:spPr>
          <a:xfrm>
            <a:off x="548640" y="6419088"/>
            <a:ext cx="7315200" cy="274320"/>
          </a:xfrm>
          <a:prstGeom prst="rect">
            <a:avLst/>
          </a:prstGeom>
          <a:noFill/>
        </p:spPr>
        <p:txBody>
          <a:bodyPr wrap="square" lIns="0" tIns="0" rIns="0" bIns="0" rtlCol="0" anchor="ctr"/>
          <a:lstStyle/>
          <a:p>
            <a:pPr marL="0" indent="0">
              <a:buNone/>
            </a:pPr>
            <a:r>
              <a:rPr lang="en-US" sz="1000" dirty="0">
                <a:solidFill>
                  <a:schemeClr val="tx2"/>
                </a:solidFill>
              </a:rPr>
              <a:t>Procurix  ·  WCC Launchpad 30  ·  Track 01: Agentic AI</a:t>
            </a:r>
            <a:endParaRPr lang="en-US" sz="1000" dirty="0"/>
          </a:p>
        </p:txBody>
      </p:sp>
      <p:sp>
        <p:nvSpPr>
          <p:cNvPr id="25"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F2342"/>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731520" y="1417320"/>
            <a:ext cx="5669280" cy="2103120"/>
          </a:xfrm>
          <a:prstGeom prst="rect">
            <a:avLst/>
          </a:prstGeom>
          <a:noFill/>
        </p:spPr>
        <p:txBody>
          <a:bodyPr wrap="square" rtlCol="0"/>
          <a:lstStyle>
            <a:lvl1pPr marL="0" indent="0" algn="l">
              <a:buNone/>
              <a:defRPr lang="en-US" sz="5200" b="1" dirty="0">
                <a:solidFill>
                  <a:schemeClr val="bg1"/>
                </a:solidFill>
              </a:defRPr>
            </a:lvl1pPr>
          </a:lstStyle>
          <a:p>
            <a:pPr marL="0" indent="0" algn="l">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hyperlink" Target="https://github.com/NikhilYadav04/procurement_ai"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731520" y="960120"/>
            <a:ext cx="6400800" cy="320040"/>
          </a:xfrm>
          <a:prstGeom prst="rect">
            <a:avLst/>
          </a:prstGeom>
          <a:noFill/>
        </p:spPr>
        <p:txBody>
          <a:bodyPr wrap="square" lIns="0" tIns="0" rIns="0" bIns="0" rtlCol="0" anchor="t"/>
          <a:lstStyle/>
          <a:p>
            <a:pPr marL="0" indent="0">
              <a:buNone/>
            </a:pPr>
            <a:r>
              <a:rPr lang="en-US" sz="1400" b="1" kern="0" spc="300" dirty="0">
                <a:solidFill>
                  <a:srgbClr val="F2A541"/>
                </a:solidFill>
              </a:rPr>
              <a:t>WCC LAUNCHPAD 30   ·   TRACK 01: AGENTIC AI</a:t>
            </a:r>
            <a:endParaRPr lang="en-US" sz="1400" dirty="0"/>
          </a:p>
        </p:txBody>
      </p:sp>
      <p:sp>
        <p:nvSpPr>
          <p:cNvPr id="3" name="Text 0"/>
          <p:cNvSpPr/>
          <p:nvPr>
            <p:ph type="title" idx="100" hasCustomPrompt="1"/>
          </p:nvPr>
        </p:nvSpPr>
        <p:spPr>
          <a:xfrm>
            <a:off x="731520" y="1600200"/>
            <a:ext cx="6400800" cy="1371600"/>
          </a:xfrm>
          <a:prstGeom prst="rect">
            <a:avLst/>
          </a:prstGeom>
          <a:noFill/>
        </p:spPr>
        <p:txBody>
          <a:bodyPr wrap="square" lIns="0" tIns="0" rIns="0" bIns="0" rtlCol="0" anchor="ctr"/>
          <a:lstStyle/>
          <a:p>
            <a:pPr marL="0" indent="0" algn="l">
              <a:buNone/>
            </a:pPr>
            <a:r>
              <a:rPr lang="en-US" sz="8400" b="1" dirty="0">
                <a:solidFill>
                  <a:schemeClr val="bg1"/>
                </a:solidFill>
              </a:rPr>
              <a:t>Procurix</a:t>
            </a:r>
            <a:endParaRPr lang="en-US" sz="8400" dirty="0"/>
          </a:p>
        </p:txBody>
      </p:sp>
      <p:sp>
        <p:nvSpPr>
          <p:cNvPr id="4" name="Subtitle"/>
          <p:cNvSpPr txBox="1"/>
          <p:nvPr/>
        </p:nvSpPr>
        <p:spPr>
          <a:xfrm>
            <a:off x="731520" y="3154680"/>
            <a:ext cx="6035040" cy="1097280"/>
          </a:xfrm>
          <a:prstGeom prst="rect">
            <a:avLst/>
          </a:prstGeom>
          <a:noFill/>
        </p:spPr>
        <p:txBody>
          <a:bodyPr wrap="square" lIns="0" tIns="0" rIns="0" bIns="0" rtlCol="0" anchor="t"/>
          <a:lstStyle/>
          <a:p>
            <a:pPr marL="0" indent="0">
              <a:buNone/>
            </a:pPr>
            <a:r>
              <a:rPr lang="en-US" sz="2200" dirty="0">
                <a:solidFill>
                  <a:schemeClr val="bg1"/>
                </a:solidFill>
              </a:rPr>
              <a:t>An AI buyer that gets quotes, picks the best supplier, and makes sure small suppliers are paid on time.</a:t>
            </a:r>
            <a:endParaRPr lang="en-US" sz="2200" dirty="0"/>
          </a:p>
        </p:txBody>
      </p:sp>
      <p:sp>
        <p:nvSpPr>
          <p:cNvPr id="5" name="Problem pill"/>
          <p:cNvSpPr/>
          <p:nvPr/>
        </p:nvSpPr>
        <p:spPr>
          <a:xfrm>
            <a:off x="731520" y="4526280"/>
            <a:ext cx="6035040" cy="914400"/>
          </a:xfrm>
          <a:prstGeom prst="roundRect">
            <a:avLst>
              <a:gd name="adj" fmla="val 8000"/>
            </a:avLst>
          </a:prstGeom>
          <a:solidFill>
            <a:srgbClr val="16315C"/>
          </a:solidFill>
          <a:ln w="12700">
            <a:solidFill>
              <a:srgbClr val="F2A541"/>
            </a:solidFill>
            <a:prstDash val="solid"/>
          </a:ln>
        </p:spPr>
      </p:sp>
      <p:sp>
        <p:nvSpPr>
          <p:cNvPr id="6" name="Pill label"/>
          <p:cNvSpPr txBox="1"/>
          <p:nvPr/>
        </p:nvSpPr>
        <p:spPr>
          <a:xfrm>
            <a:off x="960120" y="4645152"/>
            <a:ext cx="5577840" cy="228600"/>
          </a:xfrm>
          <a:prstGeom prst="rect">
            <a:avLst/>
          </a:prstGeom>
          <a:noFill/>
        </p:spPr>
        <p:txBody>
          <a:bodyPr wrap="square" lIns="0" tIns="0" rIns="0" bIns="0" rtlCol="0" anchor="t"/>
          <a:lstStyle/>
          <a:p>
            <a:pPr marL="0" indent="0">
              <a:buNone/>
            </a:pPr>
            <a:r>
              <a:rPr lang="en-US" sz="1000" b="1" kern="0" spc="200" dirty="0">
                <a:solidFill>
                  <a:srgbClr val="F2A541"/>
                </a:solidFill>
              </a:rPr>
              <a:t>PROBLEM STATEMENT</a:t>
            </a:r>
            <a:endParaRPr lang="en-US" sz="1000" dirty="0"/>
          </a:p>
        </p:txBody>
      </p:sp>
      <p:sp>
        <p:nvSpPr>
          <p:cNvPr id="7" name="Pill text"/>
          <p:cNvSpPr txBox="1"/>
          <p:nvPr/>
        </p:nvSpPr>
        <p:spPr>
          <a:xfrm>
            <a:off x="960120" y="4901184"/>
            <a:ext cx="5577840" cy="457200"/>
          </a:xfrm>
          <a:prstGeom prst="rect">
            <a:avLst/>
          </a:prstGeom>
          <a:noFill/>
        </p:spPr>
        <p:txBody>
          <a:bodyPr wrap="square" lIns="0" tIns="0" rIns="0" bIns="0" rtlCol="0" anchor="t"/>
          <a:lstStyle/>
          <a:p>
            <a:pPr marL="0" indent="0">
              <a:buNone/>
            </a:pPr>
            <a:r>
              <a:rPr lang="en-US" sz="1400" dirty="0">
                <a:solidFill>
                  <a:schemeClr val="bg1"/>
                </a:solidFill>
              </a:rPr>
              <a:t>Buying supplies, and paying small suppliers on time (Section 43B(h), Income Tax Act)</a:t>
            </a:r>
            <a:endParaRPr lang="en-US" sz="1400" dirty="0"/>
          </a:p>
        </p:txBody>
      </p:sp>
      <p:sp>
        <p:nvSpPr>
          <p:cNvPr id="8" name="Builder"/>
          <p:cNvSpPr txBox="1"/>
          <p:nvPr/>
        </p:nvSpPr>
        <p:spPr>
          <a:xfrm>
            <a:off x="731520" y="5852160"/>
            <a:ext cx="2743200" cy="320040"/>
          </a:xfrm>
          <a:prstGeom prst="rect">
            <a:avLst/>
          </a:prstGeom>
          <a:noFill/>
        </p:spPr>
        <p:txBody>
          <a:bodyPr wrap="square" lIns="0" tIns="0" rIns="0" bIns="0" rtlCol="0" anchor="t"/>
          <a:lstStyle/>
          <a:p>
            <a:pPr marL="0" indent="0">
              <a:buNone/>
            </a:pPr>
            <a:r>
              <a:rPr lang="en-US" sz="1800" b="1" dirty="0">
                <a:solidFill>
                  <a:schemeClr val="bg1"/>
                </a:solidFill>
              </a:rPr>
              <a:t>Nikhil Yadav</a:t>
            </a:r>
            <a:endParaRPr lang="en-US" sz="1800" dirty="0"/>
          </a:p>
        </p:txBody>
      </p:sp>
      <p:sp>
        <p:nvSpPr>
          <p:cNvPr id="9" name="GitHub">
            <a:hlinkClick r:id="rId1"/>
          </p:cNvPr>
          <p:cNvSpPr txBox="1"/>
          <p:nvPr/>
        </p:nvSpPr>
        <p:spPr>
          <a:xfrm>
            <a:off x="3291840" y="5870448"/>
            <a:ext cx="4114800" cy="292608"/>
          </a:xfrm>
          <a:prstGeom prst="rect">
            <a:avLst/>
          </a:prstGeom>
          <a:noFill/>
        </p:spPr>
        <p:txBody>
          <a:bodyPr wrap="square" lIns="0" tIns="0" rIns="0" bIns="0" rtlCol="0" anchor="t"/>
          <a:lstStyle/>
          <a:p>
            <a:pPr marL="0" indent="0">
              <a:buNone/>
            </a:pPr>
            <a:r>
              <a:rPr lang="en-US" sz="1400" u="sng" dirty="0">
                <a:solidFill>
                  <a:srgbClr val="F2A541"/>
                </a:solidFill>
              </a:rPr>
              <a:t>github.com/NikhilYadav04/procurement_ai</a:t>
            </a:r>
            <a:endParaRPr lang="en-US" sz="1400" dirty="0"/>
          </a:p>
        </p:txBody>
      </p:sp>
      <p:sp>
        <p:nvSpPr>
          <p:cNvPr id="10" name="Stat tile 1"/>
          <p:cNvSpPr/>
          <p:nvPr/>
        </p:nvSpPr>
        <p:spPr>
          <a:xfrm>
            <a:off x="7726680" y="1097280"/>
            <a:ext cx="3931920" cy="1051560"/>
          </a:xfrm>
          <a:prstGeom prst="roundRect">
            <a:avLst>
              <a:gd name="adj" fmla="val 8696"/>
            </a:avLst>
          </a:prstGeom>
          <a:solidFill>
            <a:srgbClr val="16315C"/>
          </a:solidFill>
        </p:spPr>
      </p:sp>
      <p:sp>
        <p:nvSpPr>
          <p:cNvPr id="11" name="Stat value"/>
          <p:cNvSpPr txBox="1"/>
          <p:nvPr/>
        </p:nvSpPr>
        <p:spPr>
          <a:xfrm>
            <a:off x="7955280" y="1188720"/>
            <a:ext cx="1691640" cy="868680"/>
          </a:xfrm>
          <a:prstGeom prst="rect">
            <a:avLst/>
          </a:prstGeom>
          <a:noFill/>
        </p:spPr>
        <p:txBody>
          <a:bodyPr wrap="square" lIns="0" tIns="0" rIns="0" bIns="0" rtlCol="0" anchor="ctr"/>
          <a:lstStyle/>
          <a:p>
            <a:pPr marL="0" indent="0">
              <a:buNone/>
            </a:pPr>
            <a:r>
              <a:rPr lang="en-US" sz="2800" b="1" dirty="0">
                <a:solidFill>
                  <a:srgbClr val="F2A541"/>
                </a:solidFill>
              </a:rPr>
              <a:t>17</a:t>
            </a:r>
            <a:endParaRPr lang="en-US" sz="2800" dirty="0"/>
          </a:p>
        </p:txBody>
      </p:sp>
      <p:sp>
        <p:nvSpPr>
          <p:cNvPr id="12" name="Stat label"/>
          <p:cNvSpPr txBox="1"/>
          <p:nvPr/>
        </p:nvSpPr>
        <p:spPr>
          <a:xfrm>
            <a:off x="9646920" y="1188720"/>
            <a:ext cx="1920240" cy="868680"/>
          </a:xfrm>
          <a:prstGeom prst="rect">
            <a:avLst/>
          </a:prstGeom>
          <a:noFill/>
        </p:spPr>
        <p:txBody>
          <a:bodyPr wrap="square" lIns="0" tIns="0" rIns="0" bIns="0" rtlCol="0" anchor="ctr"/>
          <a:lstStyle/>
          <a:p>
            <a:pPr marL="0" indent="0">
              <a:buNone/>
            </a:pPr>
            <a:r>
              <a:rPr lang="en-US" sz="1500" dirty="0">
                <a:solidFill>
                  <a:schemeClr val="bg1"/>
                </a:solidFill>
              </a:rPr>
              <a:t>agent tools</a:t>
            </a:r>
            <a:endParaRPr lang="en-US" sz="1500" dirty="0"/>
          </a:p>
        </p:txBody>
      </p:sp>
      <p:sp>
        <p:nvSpPr>
          <p:cNvPr id="13" name="Stat tile 2"/>
          <p:cNvSpPr/>
          <p:nvPr/>
        </p:nvSpPr>
        <p:spPr>
          <a:xfrm>
            <a:off x="7726680" y="2377440"/>
            <a:ext cx="3931920" cy="1051560"/>
          </a:xfrm>
          <a:prstGeom prst="roundRect">
            <a:avLst>
              <a:gd name="adj" fmla="val 8696"/>
            </a:avLst>
          </a:prstGeom>
          <a:solidFill>
            <a:srgbClr val="16315C"/>
          </a:solidFill>
        </p:spPr>
      </p:sp>
      <p:sp>
        <p:nvSpPr>
          <p:cNvPr id="14" name="Stat value"/>
          <p:cNvSpPr txBox="1"/>
          <p:nvPr/>
        </p:nvSpPr>
        <p:spPr>
          <a:xfrm>
            <a:off x="7955280" y="2468880"/>
            <a:ext cx="1691640" cy="868680"/>
          </a:xfrm>
          <a:prstGeom prst="rect">
            <a:avLst/>
          </a:prstGeom>
          <a:noFill/>
        </p:spPr>
        <p:txBody>
          <a:bodyPr wrap="square" lIns="0" tIns="0" rIns="0" bIns="0" rtlCol="0" anchor="ctr"/>
          <a:lstStyle/>
          <a:p>
            <a:pPr marL="0" indent="0">
              <a:buNone/>
            </a:pPr>
            <a:r>
              <a:rPr lang="en-US" sz="2800" b="1" dirty="0">
                <a:solidFill>
                  <a:srgbClr val="F2A541"/>
                </a:solidFill>
              </a:rPr>
              <a:t>43B(h)</a:t>
            </a:r>
            <a:endParaRPr lang="en-US" sz="2800" dirty="0"/>
          </a:p>
        </p:txBody>
      </p:sp>
      <p:sp>
        <p:nvSpPr>
          <p:cNvPr id="15" name="Stat label"/>
          <p:cNvSpPr txBox="1"/>
          <p:nvPr/>
        </p:nvSpPr>
        <p:spPr>
          <a:xfrm>
            <a:off x="9646920" y="2468880"/>
            <a:ext cx="1920240" cy="868680"/>
          </a:xfrm>
          <a:prstGeom prst="rect">
            <a:avLst/>
          </a:prstGeom>
          <a:noFill/>
        </p:spPr>
        <p:txBody>
          <a:bodyPr wrap="square" lIns="0" tIns="0" rIns="0" bIns="0" rtlCol="0" anchor="ctr"/>
          <a:lstStyle/>
          <a:p>
            <a:pPr marL="0" indent="0">
              <a:buNone/>
            </a:pPr>
            <a:r>
              <a:rPr lang="en-US" sz="1500" dirty="0">
                <a:solidFill>
                  <a:schemeClr val="bg1"/>
                </a:solidFill>
              </a:rPr>
              <a:t>tax compliance engine</a:t>
            </a:r>
            <a:endParaRPr lang="en-US" sz="1500" dirty="0"/>
          </a:p>
        </p:txBody>
      </p:sp>
      <p:sp>
        <p:nvSpPr>
          <p:cNvPr id="16" name="Stat tile 3"/>
          <p:cNvSpPr/>
          <p:nvPr/>
        </p:nvSpPr>
        <p:spPr>
          <a:xfrm>
            <a:off x="7726680" y="3657600"/>
            <a:ext cx="3931920" cy="1051560"/>
          </a:xfrm>
          <a:prstGeom prst="roundRect">
            <a:avLst>
              <a:gd name="adj" fmla="val 8696"/>
            </a:avLst>
          </a:prstGeom>
          <a:solidFill>
            <a:srgbClr val="16315C"/>
          </a:solidFill>
        </p:spPr>
      </p:sp>
      <p:sp>
        <p:nvSpPr>
          <p:cNvPr id="17" name="Stat value"/>
          <p:cNvSpPr txBox="1"/>
          <p:nvPr/>
        </p:nvSpPr>
        <p:spPr>
          <a:xfrm>
            <a:off x="7955280" y="3749040"/>
            <a:ext cx="1691640" cy="868680"/>
          </a:xfrm>
          <a:prstGeom prst="rect">
            <a:avLst/>
          </a:prstGeom>
          <a:noFill/>
        </p:spPr>
        <p:txBody>
          <a:bodyPr wrap="square" lIns="0" tIns="0" rIns="0" bIns="0" rtlCol="0" anchor="ctr"/>
          <a:lstStyle/>
          <a:p>
            <a:pPr marL="0" indent="0">
              <a:buNone/>
            </a:pPr>
            <a:r>
              <a:rPr lang="en-US" sz="2800" b="1" dirty="0">
                <a:solidFill>
                  <a:srgbClr val="F2A541"/>
                </a:solidFill>
              </a:rPr>
              <a:t>Live</a:t>
            </a:r>
            <a:endParaRPr lang="en-US" sz="2800" dirty="0"/>
          </a:p>
        </p:txBody>
      </p:sp>
      <p:sp>
        <p:nvSpPr>
          <p:cNvPr id="18" name="Stat label"/>
          <p:cNvSpPr txBox="1"/>
          <p:nvPr/>
        </p:nvSpPr>
        <p:spPr>
          <a:xfrm>
            <a:off x="9646920" y="3749040"/>
            <a:ext cx="1920240" cy="868680"/>
          </a:xfrm>
          <a:prstGeom prst="rect">
            <a:avLst/>
          </a:prstGeom>
          <a:noFill/>
        </p:spPr>
        <p:txBody>
          <a:bodyPr wrap="square" lIns="0" tIns="0" rIns="0" bIns="0" rtlCol="0" anchor="ctr"/>
          <a:lstStyle/>
          <a:p>
            <a:pPr marL="0" indent="0">
              <a:buNone/>
            </a:pPr>
            <a:r>
              <a:rPr lang="en-US" sz="1500" dirty="0">
                <a:solidFill>
                  <a:schemeClr val="bg1"/>
                </a:solidFill>
              </a:rPr>
              <a:t>reverse auctions</a:t>
            </a:r>
            <a:endParaRPr lang="en-US" sz="1500" dirty="0"/>
          </a:p>
        </p:txBody>
      </p:sp>
      <p:sp>
        <p:nvSpPr>
          <p:cNvPr id="19" name="Stat tile 4"/>
          <p:cNvSpPr/>
          <p:nvPr/>
        </p:nvSpPr>
        <p:spPr>
          <a:xfrm>
            <a:off x="7726680" y="4937760"/>
            <a:ext cx="3931920" cy="1051560"/>
          </a:xfrm>
          <a:prstGeom prst="roundRect">
            <a:avLst>
              <a:gd name="adj" fmla="val 8696"/>
            </a:avLst>
          </a:prstGeom>
          <a:solidFill>
            <a:srgbClr val="16315C"/>
          </a:solidFill>
        </p:spPr>
      </p:sp>
      <p:sp>
        <p:nvSpPr>
          <p:cNvPr id="20" name="Stat value"/>
          <p:cNvSpPr txBox="1"/>
          <p:nvPr/>
        </p:nvSpPr>
        <p:spPr>
          <a:xfrm>
            <a:off x="7955280" y="5029200"/>
            <a:ext cx="1691640" cy="868680"/>
          </a:xfrm>
          <a:prstGeom prst="rect">
            <a:avLst/>
          </a:prstGeom>
          <a:noFill/>
        </p:spPr>
        <p:txBody>
          <a:bodyPr wrap="square" lIns="0" tIns="0" rIns="0" bIns="0" rtlCol="0" anchor="ctr"/>
          <a:lstStyle/>
          <a:p>
            <a:pPr marL="0" indent="0">
              <a:buNone/>
            </a:pPr>
            <a:r>
              <a:rPr lang="en-US" sz="2800" b="1" dirty="0">
                <a:solidFill>
                  <a:srgbClr val="F2A541"/>
                </a:solidFill>
              </a:rPr>
              <a:t>Working</a:t>
            </a:r>
            <a:endParaRPr lang="en-US" sz="2800" dirty="0"/>
          </a:p>
        </p:txBody>
      </p:sp>
      <p:sp>
        <p:nvSpPr>
          <p:cNvPr id="21" name="Stat label"/>
          <p:cNvSpPr txBox="1"/>
          <p:nvPr/>
        </p:nvSpPr>
        <p:spPr>
          <a:xfrm>
            <a:off x="9646920" y="5029200"/>
            <a:ext cx="1920240" cy="868680"/>
          </a:xfrm>
          <a:prstGeom prst="rect">
            <a:avLst/>
          </a:prstGeom>
          <a:noFill/>
        </p:spPr>
        <p:txBody>
          <a:bodyPr wrap="square" lIns="0" tIns="0" rIns="0" bIns="0" rtlCol="0" anchor="ctr"/>
          <a:lstStyle/>
          <a:p>
            <a:pPr marL="0" indent="0">
              <a:buNone/>
            </a:pPr>
            <a:r>
              <a:rPr lang="en-US" sz="1500" dirty="0">
                <a:solidFill>
                  <a:schemeClr val="bg1"/>
                </a:solidFill>
              </a:rPr>
              <a:t>software, not a concept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THE PROBLEM</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Buying is email. Paying late now costs tax</a:t>
            </a:r>
            <a:endParaRPr lang="en-US" sz="3400" dirty="0"/>
          </a:p>
        </p:txBody>
      </p:sp>
      <p:sp>
        <p:nvSpPr>
          <p:cNvPr id="4" name="Left label"/>
          <p:cNvSpPr txBox="1"/>
          <p:nvPr/>
        </p:nvSpPr>
        <p:spPr>
          <a:xfrm>
            <a:off x="548640" y="1627632"/>
            <a:ext cx="6309360" cy="228600"/>
          </a:xfrm>
          <a:prstGeom prst="rect">
            <a:avLst/>
          </a:prstGeom>
          <a:noFill/>
        </p:spPr>
        <p:txBody>
          <a:bodyPr wrap="square" lIns="0" tIns="0" rIns="0" bIns="0" rtlCol="0" anchor="t"/>
          <a:lstStyle/>
          <a:p>
            <a:pPr marL="0" indent="0">
              <a:buNone/>
            </a:pPr>
            <a:r>
              <a:rPr lang="en-US" sz="1100" b="1" kern="0" spc="200" dirty="0">
                <a:solidFill>
                  <a:srgbClr val="5B6478"/>
                </a:solidFill>
              </a:rPr>
              <a:t>WHAT ONE PURCHASE COSTS TODAY</a:t>
            </a:r>
            <a:endParaRPr lang="en-US" sz="1100" dirty="0"/>
          </a:p>
        </p:txBody>
      </p:sp>
      <p:sp>
        <p:nvSpPr>
          <p:cNvPr id="5" name="Pain row 1"/>
          <p:cNvSpPr/>
          <p:nvPr/>
        </p:nvSpPr>
        <p:spPr>
          <a:xfrm>
            <a:off x="548640" y="1920240"/>
            <a:ext cx="6309360" cy="658368"/>
          </a:xfrm>
          <a:prstGeom prst="roundRect">
            <a:avLst>
              <a:gd name="adj" fmla="val 11111"/>
            </a:avLst>
          </a:prstGeom>
          <a:solidFill>
            <a:schemeClr val="bg2"/>
          </a:solidFill>
        </p:spPr>
      </p:sp>
      <p:sp>
        <p:nvSpPr>
          <p:cNvPr id="6" name="Pain label"/>
          <p:cNvSpPr txBox="1"/>
          <p:nvPr/>
        </p:nvSpPr>
        <p:spPr>
          <a:xfrm>
            <a:off x="777240" y="2011680"/>
            <a:ext cx="1828800" cy="475488"/>
          </a:xfrm>
          <a:prstGeom prst="rect">
            <a:avLst/>
          </a:prstGeom>
          <a:noFill/>
        </p:spPr>
        <p:txBody>
          <a:bodyPr wrap="square" lIns="0" tIns="0" rIns="0" bIns="0" rtlCol="0" anchor="ctr"/>
          <a:lstStyle/>
          <a:p>
            <a:pPr marL="0" indent="0">
              <a:buNone/>
            </a:pPr>
            <a:r>
              <a:rPr lang="en-US" sz="1700" b="1" dirty="0">
                <a:solidFill>
                  <a:schemeClr val="accent3"/>
                </a:solidFill>
              </a:rPr>
              <a:t>5 mails</a:t>
            </a:r>
            <a:endParaRPr lang="en-US" sz="1700" dirty="0"/>
          </a:p>
        </p:txBody>
      </p:sp>
      <p:sp>
        <p:nvSpPr>
          <p:cNvPr id="7" name="Pain text"/>
          <p:cNvSpPr txBox="1"/>
          <p:nvPr/>
        </p:nvSpPr>
        <p:spPr>
          <a:xfrm>
            <a:off x="2697480" y="2011680"/>
            <a:ext cx="4023360" cy="475488"/>
          </a:xfrm>
          <a:prstGeom prst="rect">
            <a:avLst/>
          </a:prstGeom>
          <a:noFill/>
        </p:spPr>
        <p:txBody>
          <a:bodyPr wrap="square" lIns="0" tIns="0" rIns="0" bIns="0" rtlCol="0" anchor="ctr"/>
          <a:lstStyle/>
          <a:p>
            <a:pPr marL="0" indent="0">
              <a:buNone/>
            </a:pPr>
            <a:r>
              <a:rPr lang="en-US" sz="1400" dirty="0">
                <a:solidFill>
                  <a:schemeClr val="tx1"/>
                </a:solidFill>
              </a:rPr>
              <a:t>Written one by one, spec pasted in each time</a:t>
            </a:r>
            <a:endParaRPr lang="en-US" sz="1400" dirty="0"/>
          </a:p>
        </p:txBody>
      </p:sp>
      <p:sp>
        <p:nvSpPr>
          <p:cNvPr id="8" name="Pain row 2"/>
          <p:cNvSpPr/>
          <p:nvPr/>
        </p:nvSpPr>
        <p:spPr>
          <a:xfrm>
            <a:off x="548640" y="2670048"/>
            <a:ext cx="6309360" cy="658368"/>
          </a:xfrm>
          <a:prstGeom prst="roundRect">
            <a:avLst>
              <a:gd name="adj" fmla="val 11111"/>
            </a:avLst>
          </a:prstGeom>
          <a:solidFill>
            <a:schemeClr val="bg2"/>
          </a:solidFill>
        </p:spPr>
      </p:sp>
      <p:sp>
        <p:nvSpPr>
          <p:cNvPr id="9" name="Pain label"/>
          <p:cNvSpPr txBox="1"/>
          <p:nvPr/>
        </p:nvSpPr>
        <p:spPr>
          <a:xfrm>
            <a:off x="777240" y="2761488"/>
            <a:ext cx="1828800" cy="475488"/>
          </a:xfrm>
          <a:prstGeom prst="rect">
            <a:avLst/>
          </a:prstGeom>
          <a:noFill/>
        </p:spPr>
        <p:txBody>
          <a:bodyPr wrap="square" lIns="0" tIns="0" rIns="0" bIns="0" rtlCol="0" anchor="ctr"/>
          <a:lstStyle/>
          <a:p>
            <a:pPr marL="0" indent="0">
              <a:buNone/>
            </a:pPr>
            <a:r>
              <a:rPr lang="en-US" sz="1700" b="1" dirty="0">
                <a:solidFill>
                  <a:schemeClr val="accent3"/>
                </a:solidFill>
              </a:rPr>
              <a:t>2 weeks</a:t>
            </a:r>
            <a:endParaRPr lang="en-US" sz="1700" dirty="0"/>
          </a:p>
        </p:txBody>
      </p:sp>
      <p:sp>
        <p:nvSpPr>
          <p:cNvPr id="10" name="Pain text"/>
          <p:cNvSpPr txBox="1"/>
          <p:nvPr/>
        </p:nvSpPr>
        <p:spPr>
          <a:xfrm>
            <a:off x="2697480" y="2761488"/>
            <a:ext cx="4023360" cy="475488"/>
          </a:xfrm>
          <a:prstGeom prst="rect">
            <a:avLst/>
          </a:prstGeom>
          <a:noFill/>
        </p:spPr>
        <p:txBody>
          <a:bodyPr wrap="square" lIns="0" tIns="0" rIns="0" bIns="0" rtlCol="0" anchor="ctr"/>
          <a:lstStyle/>
          <a:p>
            <a:pPr marL="0" indent="0">
              <a:buNone/>
            </a:pPr>
            <a:r>
              <a:rPr lang="en-US" sz="1400" dirty="0">
                <a:solidFill>
                  <a:schemeClr val="tx1"/>
                </a:solidFill>
              </a:rPr>
              <a:t>Waiting, then chasing the ones who stay quiet</a:t>
            </a:r>
            <a:endParaRPr lang="en-US" sz="1400" dirty="0"/>
          </a:p>
        </p:txBody>
      </p:sp>
      <p:sp>
        <p:nvSpPr>
          <p:cNvPr id="11" name="Pain row 3"/>
          <p:cNvSpPr/>
          <p:nvPr/>
        </p:nvSpPr>
        <p:spPr>
          <a:xfrm>
            <a:off x="548640" y="3419856"/>
            <a:ext cx="6309360" cy="658368"/>
          </a:xfrm>
          <a:prstGeom prst="roundRect">
            <a:avLst>
              <a:gd name="adj" fmla="val 11111"/>
            </a:avLst>
          </a:prstGeom>
          <a:solidFill>
            <a:schemeClr val="bg2"/>
          </a:solidFill>
        </p:spPr>
      </p:sp>
      <p:sp>
        <p:nvSpPr>
          <p:cNvPr id="12" name="Pain label"/>
          <p:cNvSpPr txBox="1"/>
          <p:nvPr/>
        </p:nvSpPr>
        <p:spPr>
          <a:xfrm>
            <a:off x="777240" y="3511296"/>
            <a:ext cx="1828800" cy="475488"/>
          </a:xfrm>
          <a:prstGeom prst="rect">
            <a:avLst/>
          </a:prstGeom>
          <a:noFill/>
        </p:spPr>
        <p:txBody>
          <a:bodyPr wrap="square" lIns="0" tIns="0" rIns="0" bIns="0" rtlCol="0" anchor="ctr"/>
          <a:lstStyle/>
          <a:p>
            <a:pPr marL="0" indent="0">
              <a:buNone/>
            </a:pPr>
            <a:r>
              <a:rPr lang="en-US" sz="1700" b="1" dirty="0">
                <a:solidFill>
                  <a:schemeClr val="accent3"/>
                </a:solidFill>
              </a:rPr>
              <a:t>By hand</a:t>
            </a:r>
            <a:endParaRPr lang="en-US" sz="1700" dirty="0"/>
          </a:p>
        </p:txBody>
      </p:sp>
      <p:sp>
        <p:nvSpPr>
          <p:cNvPr id="13" name="Pain text"/>
          <p:cNvSpPr txBox="1"/>
          <p:nvPr/>
        </p:nvSpPr>
        <p:spPr>
          <a:xfrm>
            <a:off x="2697480" y="3511296"/>
            <a:ext cx="4023360" cy="475488"/>
          </a:xfrm>
          <a:prstGeom prst="rect">
            <a:avLst/>
          </a:prstGeom>
          <a:noFill/>
        </p:spPr>
        <p:txBody>
          <a:bodyPr wrap="square" lIns="0" tIns="0" rIns="0" bIns="0" rtlCol="0" anchor="ctr"/>
          <a:lstStyle/>
          <a:p>
            <a:pPr marL="0" indent="0">
              <a:buNone/>
            </a:pPr>
            <a:r>
              <a:rPr lang="en-US" sz="1400" dirty="0">
                <a:solidFill>
                  <a:schemeClr val="tx1"/>
                </a:solidFill>
              </a:rPr>
              <a:t>Every quote retyped into Excel to line them up</a:t>
            </a:r>
            <a:endParaRPr lang="en-US" sz="1400" dirty="0"/>
          </a:p>
        </p:txBody>
      </p:sp>
      <p:sp>
        <p:nvSpPr>
          <p:cNvPr id="14" name="Pain row 4"/>
          <p:cNvSpPr/>
          <p:nvPr/>
        </p:nvSpPr>
        <p:spPr>
          <a:xfrm>
            <a:off x="548640" y="4169664"/>
            <a:ext cx="6309360" cy="658368"/>
          </a:xfrm>
          <a:prstGeom prst="roundRect">
            <a:avLst>
              <a:gd name="adj" fmla="val 11111"/>
            </a:avLst>
          </a:prstGeom>
          <a:solidFill>
            <a:schemeClr val="bg2"/>
          </a:solidFill>
        </p:spPr>
      </p:sp>
      <p:sp>
        <p:nvSpPr>
          <p:cNvPr id="15" name="Pain label"/>
          <p:cNvSpPr txBox="1"/>
          <p:nvPr/>
        </p:nvSpPr>
        <p:spPr>
          <a:xfrm>
            <a:off x="777240" y="4261104"/>
            <a:ext cx="1828800" cy="475488"/>
          </a:xfrm>
          <a:prstGeom prst="rect">
            <a:avLst/>
          </a:prstGeom>
          <a:noFill/>
        </p:spPr>
        <p:txBody>
          <a:bodyPr wrap="square" lIns="0" tIns="0" rIns="0" bIns="0" rtlCol="0" anchor="ctr"/>
          <a:lstStyle/>
          <a:p>
            <a:pPr marL="0" indent="0">
              <a:buNone/>
            </a:pPr>
            <a:r>
              <a:rPr lang="en-US" sz="1700" b="1" dirty="0">
                <a:solidFill>
                  <a:schemeClr val="accent3"/>
                </a:solidFill>
              </a:rPr>
              <a:t>Not comparable</a:t>
            </a:r>
            <a:endParaRPr lang="en-US" sz="1700" dirty="0"/>
          </a:p>
        </p:txBody>
      </p:sp>
      <p:sp>
        <p:nvSpPr>
          <p:cNvPr id="16" name="Pain text"/>
          <p:cNvSpPr txBox="1"/>
          <p:nvPr/>
        </p:nvSpPr>
        <p:spPr>
          <a:xfrm>
            <a:off x="2697480" y="4261104"/>
            <a:ext cx="4023360" cy="475488"/>
          </a:xfrm>
          <a:prstGeom prst="rect">
            <a:avLst/>
          </a:prstGeom>
          <a:noFill/>
        </p:spPr>
        <p:txBody>
          <a:bodyPr wrap="square" lIns="0" tIns="0" rIns="0" bIns="0" rtlCol="0" anchor="ctr"/>
          <a:lstStyle/>
          <a:p>
            <a:pPr marL="0" indent="0">
              <a:buNone/>
            </a:pPr>
            <a:r>
              <a:rPr lang="en-US" sz="1400" dirty="0">
                <a:solidFill>
                  <a:schemeClr val="tx1"/>
                </a:solidFill>
              </a:rPr>
              <a:t>"Net 30" vs "50% advance", so only price decides</a:t>
            </a:r>
            <a:endParaRPr lang="en-US" sz="1400" dirty="0"/>
          </a:p>
        </p:txBody>
      </p:sp>
      <p:sp>
        <p:nvSpPr>
          <p:cNvPr id="17" name="Pain row 5"/>
          <p:cNvSpPr/>
          <p:nvPr/>
        </p:nvSpPr>
        <p:spPr>
          <a:xfrm>
            <a:off x="548640" y="4919472"/>
            <a:ext cx="6309360" cy="658368"/>
          </a:xfrm>
          <a:prstGeom prst="roundRect">
            <a:avLst>
              <a:gd name="adj" fmla="val 11111"/>
            </a:avLst>
          </a:prstGeom>
          <a:solidFill>
            <a:schemeClr val="bg2"/>
          </a:solidFill>
        </p:spPr>
      </p:sp>
      <p:sp>
        <p:nvSpPr>
          <p:cNvPr id="18" name="Pain label"/>
          <p:cNvSpPr txBox="1"/>
          <p:nvPr/>
        </p:nvSpPr>
        <p:spPr>
          <a:xfrm>
            <a:off x="777240" y="5010912"/>
            <a:ext cx="1828800" cy="475488"/>
          </a:xfrm>
          <a:prstGeom prst="rect">
            <a:avLst/>
          </a:prstGeom>
          <a:noFill/>
        </p:spPr>
        <p:txBody>
          <a:bodyPr wrap="square" lIns="0" tIns="0" rIns="0" bIns="0" rtlCol="0" anchor="ctr"/>
          <a:lstStyle/>
          <a:p>
            <a:pPr marL="0" indent="0">
              <a:buNone/>
            </a:pPr>
            <a:r>
              <a:rPr lang="en-US" sz="1700" b="1" dirty="0">
                <a:solidFill>
                  <a:schemeClr val="accent3"/>
                </a:solidFill>
              </a:rPr>
              <a:t>Lost</a:t>
            </a:r>
            <a:endParaRPr lang="en-US" sz="1700" dirty="0"/>
          </a:p>
        </p:txBody>
      </p:sp>
      <p:sp>
        <p:nvSpPr>
          <p:cNvPr id="19" name="Pain text"/>
          <p:cNvSpPr txBox="1"/>
          <p:nvPr/>
        </p:nvSpPr>
        <p:spPr>
          <a:xfrm>
            <a:off x="2697480" y="5010912"/>
            <a:ext cx="4023360" cy="475488"/>
          </a:xfrm>
          <a:prstGeom prst="rect">
            <a:avLst/>
          </a:prstGeom>
          <a:noFill/>
        </p:spPr>
        <p:txBody>
          <a:bodyPr wrap="square" lIns="0" tIns="0" rIns="0" bIns="0" rtlCol="0" anchor="ctr"/>
          <a:lstStyle/>
          <a:p>
            <a:pPr marL="0" indent="0">
              <a:buNone/>
            </a:pPr>
            <a:r>
              <a:rPr lang="en-US" sz="1400" dirty="0">
                <a:solidFill>
                  <a:schemeClr val="tx1"/>
                </a:solidFill>
              </a:rPr>
              <a:t>Why a supplier was chosen leaves with the inbox</a:t>
            </a:r>
            <a:endParaRPr lang="en-US" sz="1400" dirty="0"/>
          </a:p>
        </p:txBody>
      </p:sp>
      <p:sp>
        <p:nvSpPr>
          <p:cNvPr id="20" name="43B(h) card"/>
          <p:cNvSpPr/>
          <p:nvPr/>
        </p:nvSpPr>
        <p:spPr>
          <a:xfrm>
            <a:off x="7178040" y="1627632"/>
            <a:ext cx="4462272" cy="4114800"/>
          </a:xfrm>
          <a:prstGeom prst="roundRect">
            <a:avLst>
              <a:gd name="adj" fmla="val 2667"/>
            </a:avLst>
          </a:prstGeom>
          <a:solidFill>
            <a:schemeClr val="tx1"/>
          </a:solidFill>
        </p:spPr>
      </p:sp>
      <p:sp>
        <p:nvSpPr>
          <p:cNvPr id="21" name="Law label"/>
          <p:cNvSpPr txBox="1"/>
          <p:nvPr/>
        </p:nvSpPr>
        <p:spPr>
          <a:xfrm>
            <a:off x="7452360" y="1828800"/>
            <a:ext cx="3931920" cy="274320"/>
          </a:xfrm>
          <a:prstGeom prst="rect">
            <a:avLst/>
          </a:prstGeom>
          <a:noFill/>
        </p:spPr>
        <p:txBody>
          <a:bodyPr wrap="square" lIns="0" tIns="0" rIns="0" bIns="0" rtlCol="0" anchor="t"/>
          <a:lstStyle/>
          <a:p>
            <a:pPr marL="0" indent="0">
              <a:buNone/>
            </a:pPr>
            <a:r>
              <a:rPr lang="en-US" sz="1100" b="1" kern="0" spc="200" dirty="0">
                <a:solidFill>
                  <a:srgbClr val="F2A541"/>
                </a:solidFill>
              </a:rPr>
              <a:t>SECTION 43B(h), INCOME TAX ACT</a:t>
            </a:r>
            <a:endParaRPr lang="en-US" sz="1100" dirty="0"/>
          </a:p>
        </p:txBody>
      </p:sp>
      <p:sp>
        <p:nvSpPr>
          <p:cNvPr id="22" name="Law number"/>
          <p:cNvSpPr txBox="1"/>
          <p:nvPr/>
        </p:nvSpPr>
        <p:spPr>
          <a:xfrm>
            <a:off x="7452360" y="2286000"/>
            <a:ext cx="3931920" cy="457200"/>
          </a:xfrm>
          <a:prstGeom prst="rect">
            <a:avLst/>
          </a:prstGeom>
          <a:noFill/>
        </p:spPr>
        <p:txBody>
          <a:bodyPr wrap="square" lIns="0" tIns="0" rIns="0" bIns="0" rtlCol="0" anchor="t"/>
          <a:lstStyle/>
          <a:p>
            <a:pPr marL="0" indent="0">
              <a:buNone/>
            </a:pPr>
            <a:r>
              <a:rPr lang="en-US" sz="2800" b="1" dirty="0">
                <a:solidFill>
                  <a:schemeClr val="bg1"/>
                </a:solidFill>
              </a:rPr>
              <a:t>45 days</a:t>
            </a:r>
            <a:endParaRPr lang="en-US" sz="2800" dirty="0"/>
          </a:p>
        </p:txBody>
      </p:sp>
      <p:sp>
        <p:nvSpPr>
          <p:cNvPr id="23" name="Law text"/>
          <p:cNvSpPr txBox="1"/>
          <p:nvPr/>
        </p:nvSpPr>
        <p:spPr>
          <a:xfrm>
            <a:off x="7452360" y="2743200"/>
            <a:ext cx="3931920" cy="457200"/>
          </a:xfrm>
          <a:prstGeom prst="rect">
            <a:avLst/>
          </a:prstGeom>
          <a:noFill/>
        </p:spPr>
        <p:txBody>
          <a:bodyPr wrap="square" lIns="0" tIns="0" rIns="0" bIns="0" rtlCol="0" anchor="t"/>
          <a:lstStyle/>
          <a:p>
            <a:pPr marL="0" indent="0">
              <a:buNone/>
            </a:pPr>
            <a:r>
              <a:rPr lang="en-US" sz="1300" dirty="0">
                <a:solidFill>
                  <a:srgbClr val="C9D3E6"/>
                </a:solidFill>
              </a:rPr>
              <a:t>Maximum time to pay a Udyam-registered micro or small supplier</a:t>
            </a:r>
            <a:endParaRPr lang="en-US" sz="1300" dirty="0"/>
          </a:p>
        </p:txBody>
      </p:sp>
      <p:sp>
        <p:nvSpPr>
          <p:cNvPr id="24" name="Law number"/>
          <p:cNvSpPr txBox="1"/>
          <p:nvPr/>
        </p:nvSpPr>
        <p:spPr>
          <a:xfrm>
            <a:off x="7452360" y="3310128"/>
            <a:ext cx="3931920" cy="457200"/>
          </a:xfrm>
          <a:prstGeom prst="rect">
            <a:avLst/>
          </a:prstGeom>
          <a:noFill/>
        </p:spPr>
        <p:txBody>
          <a:bodyPr wrap="square" lIns="0" tIns="0" rIns="0" bIns="0" rtlCol="0" anchor="t"/>
          <a:lstStyle/>
          <a:p>
            <a:pPr marL="0" indent="0">
              <a:buNone/>
            </a:pPr>
            <a:r>
              <a:rPr lang="en-US" sz="2800" b="1" dirty="0">
                <a:solidFill>
                  <a:schemeClr val="bg1"/>
                </a:solidFill>
              </a:rPr>
              <a:t>15 days</a:t>
            </a:r>
            <a:endParaRPr lang="en-US" sz="2800" dirty="0"/>
          </a:p>
        </p:txBody>
      </p:sp>
      <p:sp>
        <p:nvSpPr>
          <p:cNvPr id="25" name="Law text"/>
          <p:cNvSpPr txBox="1"/>
          <p:nvPr/>
        </p:nvSpPr>
        <p:spPr>
          <a:xfrm>
            <a:off x="7452360" y="3767328"/>
            <a:ext cx="3931920" cy="457200"/>
          </a:xfrm>
          <a:prstGeom prst="rect">
            <a:avLst/>
          </a:prstGeom>
          <a:noFill/>
        </p:spPr>
        <p:txBody>
          <a:bodyPr wrap="square" lIns="0" tIns="0" rIns="0" bIns="0" rtlCol="0" anchor="t"/>
          <a:lstStyle/>
          <a:p>
            <a:pPr marL="0" indent="0">
              <a:buNone/>
            </a:pPr>
            <a:r>
              <a:rPr lang="en-US" sz="1300" dirty="0">
                <a:solidFill>
                  <a:srgbClr val="C9D3E6"/>
                </a:solidFill>
              </a:rPr>
              <a:t>If there is no written payment term, which is most SME buying</a:t>
            </a:r>
            <a:endParaRPr lang="en-US" sz="1300" dirty="0"/>
          </a:p>
        </p:txBody>
      </p:sp>
      <p:sp>
        <p:nvSpPr>
          <p:cNvPr id="26" name="Law number"/>
          <p:cNvSpPr txBox="1"/>
          <p:nvPr/>
        </p:nvSpPr>
        <p:spPr>
          <a:xfrm>
            <a:off x="7452360" y="4334256"/>
            <a:ext cx="3931920" cy="457200"/>
          </a:xfrm>
          <a:prstGeom prst="rect">
            <a:avLst/>
          </a:prstGeom>
          <a:noFill/>
        </p:spPr>
        <p:txBody>
          <a:bodyPr wrap="square" lIns="0" tIns="0" rIns="0" bIns="0" rtlCol="0" anchor="t"/>
          <a:lstStyle/>
          <a:p>
            <a:pPr marL="0" indent="0">
              <a:buNone/>
            </a:pPr>
            <a:r>
              <a:rPr lang="en-US" sz="2800" b="1" dirty="0">
                <a:solidFill>
                  <a:schemeClr val="bg1"/>
                </a:solidFill>
              </a:rPr>
              <a:t>3× bank rate</a:t>
            </a:r>
            <a:endParaRPr lang="en-US" sz="2800" dirty="0"/>
          </a:p>
        </p:txBody>
      </p:sp>
      <p:sp>
        <p:nvSpPr>
          <p:cNvPr id="27" name="Law text"/>
          <p:cNvSpPr txBox="1"/>
          <p:nvPr/>
        </p:nvSpPr>
        <p:spPr>
          <a:xfrm>
            <a:off x="7452360" y="4791456"/>
            <a:ext cx="3931920" cy="457200"/>
          </a:xfrm>
          <a:prstGeom prst="rect">
            <a:avLst/>
          </a:prstGeom>
          <a:noFill/>
        </p:spPr>
        <p:txBody>
          <a:bodyPr wrap="square" lIns="0" tIns="0" rIns="0" bIns="0" rtlCol="0" anchor="t"/>
          <a:lstStyle/>
          <a:p>
            <a:pPr marL="0" indent="0">
              <a:buNone/>
            </a:pPr>
            <a:r>
              <a:rPr lang="en-US" sz="1300" dirty="0">
                <a:solidFill>
                  <a:srgbClr val="C9D3E6"/>
                </a:solidFill>
              </a:rPr>
              <a:t>Interest, compounded monthly, and not deductible</a:t>
            </a:r>
            <a:endParaRPr lang="en-US" sz="1300" dirty="0"/>
          </a:p>
        </p:txBody>
      </p:sp>
      <p:sp>
        <p:nvSpPr>
          <p:cNvPr id="28" name="Law note"/>
          <p:cNvSpPr txBox="1"/>
          <p:nvPr/>
        </p:nvSpPr>
        <p:spPr>
          <a:xfrm>
            <a:off x="7452360" y="5212080"/>
            <a:ext cx="3931920" cy="411480"/>
          </a:xfrm>
          <a:prstGeom prst="rect">
            <a:avLst/>
          </a:prstGeom>
          <a:noFill/>
        </p:spPr>
        <p:txBody>
          <a:bodyPr wrap="square" lIns="0" tIns="0" rIns="0" bIns="0" rtlCol="0" anchor="t"/>
          <a:lstStyle/>
          <a:p>
            <a:pPr marL="0" indent="0">
              <a:buNone/>
            </a:pPr>
            <a:r>
              <a:rPr lang="en-US" sz="1200" i="1" dirty="0">
                <a:solidFill>
                  <a:srgbClr val="F2A541"/>
                </a:solidFill>
              </a:rPr>
              <a:t>Miss it and the deduction moves to the year you pay. Deferred, not forgiven.</a:t>
            </a:r>
            <a:endParaRPr lang="en-US" sz="1200" dirty="0"/>
          </a:p>
        </p:txBody>
      </p:sp>
      <p:sp>
        <p:nvSpPr>
          <p:cNvPr id="29" name="Red tape"/>
          <p:cNvSpPr/>
          <p:nvPr/>
        </p:nvSpPr>
        <p:spPr>
          <a:xfrm>
            <a:off x="548640" y="5870448"/>
            <a:ext cx="11091672" cy="457200"/>
          </a:xfrm>
          <a:prstGeom prst="roundRect">
            <a:avLst>
              <a:gd name="adj" fmla="val 16000"/>
            </a:avLst>
          </a:prstGeom>
          <a:solidFill>
            <a:schemeClr val="accent6"/>
          </a:solidFill>
        </p:spPr>
      </p:sp>
      <p:sp>
        <p:nvSpPr>
          <p:cNvPr id="30" name="Red tape text"/>
          <p:cNvSpPr txBox="1"/>
          <p:nvPr/>
        </p:nvSpPr>
        <p:spPr>
          <a:xfrm>
            <a:off x="777240" y="5870448"/>
            <a:ext cx="10698480" cy="457200"/>
          </a:xfrm>
          <a:prstGeom prst="rect">
            <a:avLst/>
          </a:prstGeom>
          <a:noFill/>
        </p:spPr>
        <p:txBody>
          <a:bodyPr wrap="square" lIns="0" tIns="0" rIns="0" bIns="0" rtlCol="0" anchor="ctr"/>
          <a:lstStyle/>
          <a:p>
            <a:pPr marL="0" indent="0">
              <a:buNone/>
            </a:pPr>
            <a:r>
              <a:rPr lang="en-US" sz="1400" b="1" dirty="0">
                <a:solidFill>
                  <a:schemeClr val="accent3"/>
                </a:solidFill>
              </a:rPr>
              <a:t>Nothing happens on day 46. The firm finds out at audit, ten months later, when nothing can be done.</a:t>
            </a:r>
            <a:endParaRPr lang="en-US" sz="1400" dirty="0"/>
          </a:p>
        </p:txBody>
      </p:sp>
      <p:sp>
        <p:nvSpPr>
          <p:cNvPr id="31"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TARGET USERS</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Built for the one-person procurement team</a:t>
            </a:r>
            <a:endParaRPr lang="en-US" sz="3400" dirty="0"/>
          </a:p>
        </p:txBody>
      </p:sp>
      <p:sp>
        <p:nvSpPr>
          <p:cNvPr id="4" name="User card"/>
          <p:cNvSpPr/>
          <p:nvPr/>
        </p:nvSpPr>
        <p:spPr>
          <a:xfrm>
            <a:off x="548640" y="1645920"/>
            <a:ext cx="5440680" cy="2423160"/>
          </a:xfrm>
          <a:prstGeom prst="roundRect">
            <a:avLst>
              <a:gd name="adj" fmla="val 4528"/>
            </a:avLst>
          </a:prstGeom>
          <a:solidFill>
            <a:schemeClr val="bg2"/>
          </a:solidFill>
        </p:spPr>
      </p:sp>
      <p:sp>
        <p:nvSpPr>
          <p:cNvPr id="5" name="Icon circle"/>
          <p:cNvSpPr/>
          <p:nvPr/>
        </p:nvSpPr>
        <p:spPr>
          <a:xfrm>
            <a:off x="822960" y="1874520"/>
            <a:ext cx="566928" cy="566928"/>
          </a:xfrm>
          <a:prstGeom prst="ellipse">
            <a:avLst/>
          </a:prstGeom>
          <a:solidFill>
            <a:schemeClr val="tx1"/>
          </a:solidFill>
        </p:spPr>
      </p:sp>
      <p:pic>
        <p:nvPicPr>
          <p:cNvPr id="6" name="Image 0" descr="The SME buyer"/>
          <p:cNvPicPr>
            <a:picLocks noChangeAspect="1"/>
          </p:cNvPicPr>
          <p:nvPr/>
        </p:nvPicPr>
        <p:blipFill>
          <a:blip r:embed="rId1"/>
          <a:stretch>
            <a:fillRect/>
          </a:stretch>
        </p:blipFill>
        <p:spPr>
          <a:xfrm>
            <a:off x="969264" y="2020824"/>
            <a:ext cx="274320" cy="274320"/>
          </a:xfrm>
          <a:prstGeom prst="rect">
            <a:avLst/>
          </a:prstGeom>
        </p:spPr>
      </p:pic>
      <p:sp>
        <p:nvSpPr>
          <p:cNvPr id="7" name="User label"/>
          <p:cNvSpPr txBox="1"/>
          <p:nvPr/>
        </p:nvSpPr>
        <p:spPr>
          <a:xfrm>
            <a:off x="1554480" y="1920240"/>
            <a:ext cx="4206240" cy="228600"/>
          </a:xfrm>
          <a:prstGeom prst="rect">
            <a:avLst/>
          </a:prstGeom>
          <a:noFill/>
        </p:spPr>
        <p:txBody>
          <a:bodyPr wrap="square" lIns="0" tIns="0" rIns="0" bIns="0" rtlCol="0" anchor="t"/>
          <a:lstStyle/>
          <a:p>
            <a:pPr marL="0" indent="0">
              <a:buNone/>
            </a:pPr>
            <a:r>
              <a:rPr lang="en-US" sz="1000" b="1" kern="0" spc="200" dirty="0">
                <a:solidFill>
                  <a:srgbClr val="A85A00"/>
                </a:solidFill>
              </a:rPr>
              <a:t>PRIMARY USER</a:t>
            </a:r>
            <a:endParaRPr lang="en-US" sz="1000" dirty="0"/>
          </a:p>
        </p:txBody>
      </p:sp>
      <p:sp>
        <p:nvSpPr>
          <p:cNvPr id="8" name="User name"/>
          <p:cNvSpPr txBox="1"/>
          <p:nvPr/>
        </p:nvSpPr>
        <p:spPr>
          <a:xfrm>
            <a:off x="1554480" y="2139696"/>
            <a:ext cx="4206240" cy="365760"/>
          </a:xfrm>
          <a:prstGeom prst="rect">
            <a:avLst/>
          </a:prstGeom>
          <a:noFill/>
        </p:spPr>
        <p:txBody>
          <a:bodyPr wrap="square" lIns="0" tIns="0" rIns="0" bIns="0" rtlCol="0" anchor="t"/>
          <a:lstStyle/>
          <a:p>
            <a:pPr marL="0" indent="0">
              <a:buNone/>
            </a:pPr>
            <a:r>
              <a:rPr lang="en-US" sz="2200" b="1" dirty="0">
                <a:solidFill>
                  <a:schemeClr val="tx1"/>
                </a:solidFill>
              </a:rPr>
              <a:t>The SME buyer</a:t>
            </a:r>
            <a:endParaRPr lang="en-US" sz="2200" dirty="0"/>
          </a:p>
        </p:txBody>
      </p:sp>
      <p:sp>
        <p:nvSpPr>
          <p:cNvPr id="9" name="User text"/>
          <p:cNvSpPr txBox="1"/>
          <p:nvPr/>
        </p:nvSpPr>
        <p:spPr>
          <a:xfrm>
            <a:off x="822960" y="2743200"/>
            <a:ext cx="4892040" cy="1234440"/>
          </a:xfrm>
          <a:prstGeom prst="rect">
            <a:avLst/>
          </a:prstGeom>
          <a:noFill/>
        </p:spPr>
        <p:txBody>
          <a:bodyPr wrap="square" lIns="0" tIns="0" rIns="0" bIns="0" rtlCol="0" anchor="t"/>
          <a:lstStyle/>
          <a:p>
            <a:pPr marL="0" indent="0">
              <a:buNone/>
            </a:pPr>
            <a:r>
              <a:rPr lang="en-US" sz="1600" dirty="0">
                <a:solidFill>
                  <a:schemeClr val="tx1"/>
                </a:solidFill>
              </a:rPr>
              <a:t>₹5 Cr to ₹500 Cr turnover. Construction, manufacturing, facilities, hospitality. Often the founder or a site engineer. No procurement software: Ariba and Coupa are built and priced for enterprises.</a:t>
            </a:r>
            <a:endParaRPr lang="en-US" sz="1600" dirty="0"/>
          </a:p>
        </p:txBody>
      </p:sp>
      <p:sp>
        <p:nvSpPr>
          <p:cNvPr id="10" name="User card"/>
          <p:cNvSpPr/>
          <p:nvPr/>
        </p:nvSpPr>
        <p:spPr>
          <a:xfrm>
            <a:off x="6199632" y="1645920"/>
            <a:ext cx="5440680" cy="2423160"/>
          </a:xfrm>
          <a:prstGeom prst="roundRect">
            <a:avLst>
              <a:gd name="adj" fmla="val 4528"/>
            </a:avLst>
          </a:prstGeom>
          <a:solidFill>
            <a:schemeClr val="bg2"/>
          </a:solidFill>
        </p:spPr>
      </p:sp>
      <p:sp>
        <p:nvSpPr>
          <p:cNvPr id="11" name="Icon circle"/>
          <p:cNvSpPr/>
          <p:nvPr/>
        </p:nvSpPr>
        <p:spPr>
          <a:xfrm>
            <a:off x="6473952" y="1874520"/>
            <a:ext cx="566928" cy="566928"/>
          </a:xfrm>
          <a:prstGeom prst="ellipse">
            <a:avLst/>
          </a:prstGeom>
          <a:solidFill>
            <a:schemeClr val="tx1"/>
          </a:solidFill>
        </p:spPr>
      </p:sp>
      <p:pic>
        <p:nvPicPr>
          <p:cNvPr id="12" name="Image 1" descr="The MSME supplier"/>
          <p:cNvPicPr>
            <a:picLocks noChangeAspect="1"/>
          </p:cNvPicPr>
          <p:nvPr/>
        </p:nvPicPr>
        <p:blipFill>
          <a:blip r:embed="rId2"/>
          <a:stretch>
            <a:fillRect/>
          </a:stretch>
        </p:blipFill>
        <p:spPr>
          <a:xfrm>
            <a:off x="6620256" y="2020824"/>
            <a:ext cx="274320" cy="274320"/>
          </a:xfrm>
          <a:prstGeom prst="rect">
            <a:avLst/>
          </a:prstGeom>
        </p:spPr>
      </p:pic>
      <p:sp>
        <p:nvSpPr>
          <p:cNvPr id="13" name="User label"/>
          <p:cNvSpPr txBox="1"/>
          <p:nvPr/>
        </p:nvSpPr>
        <p:spPr>
          <a:xfrm>
            <a:off x="7205472" y="1920240"/>
            <a:ext cx="4206240" cy="228600"/>
          </a:xfrm>
          <a:prstGeom prst="rect">
            <a:avLst/>
          </a:prstGeom>
          <a:noFill/>
        </p:spPr>
        <p:txBody>
          <a:bodyPr wrap="square" lIns="0" tIns="0" rIns="0" bIns="0" rtlCol="0" anchor="t"/>
          <a:lstStyle/>
          <a:p>
            <a:pPr marL="0" indent="0">
              <a:buNone/>
            </a:pPr>
            <a:r>
              <a:rPr lang="en-US" sz="1000" b="1" kern="0" spc="200" dirty="0">
                <a:solidFill>
                  <a:srgbClr val="A85A00"/>
                </a:solidFill>
              </a:rPr>
              <a:t>BENEFITS WITHOUT LOGGING IN</a:t>
            </a:r>
            <a:endParaRPr lang="en-US" sz="1000" dirty="0"/>
          </a:p>
        </p:txBody>
      </p:sp>
      <p:sp>
        <p:nvSpPr>
          <p:cNvPr id="14" name="User name"/>
          <p:cNvSpPr txBox="1"/>
          <p:nvPr/>
        </p:nvSpPr>
        <p:spPr>
          <a:xfrm>
            <a:off x="7205472" y="2139696"/>
            <a:ext cx="4206240" cy="365760"/>
          </a:xfrm>
          <a:prstGeom prst="rect">
            <a:avLst/>
          </a:prstGeom>
          <a:noFill/>
        </p:spPr>
        <p:txBody>
          <a:bodyPr wrap="square" lIns="0" tIns="0" rIns="0" bIns="0" rtlCol="0" anchor="t"/>
          <a:lstStyle/>
          <a:p>
            <a:pPr marL="0" indent="0">
              <a:buNone/>
            </a:pPr>
            <a:r>
              <a:rPr lang="en-US" sz="2200" b="1" dirty="0">
                <a:solidFill>
                  <a:schemeClr val="tx1"/>
                </a:solidFill>
              </a:rPr>
              <a:t>The MSME supplier</a:t>
            </a:r>
            <a:endParaRPr lang="en-US" sz="2200" dirty="0"/>
          </a:p>
        </p:txBody>
      </p:sp>
      <p:sp>
        <p:nvSpPr>
          <p:cNvPr id="15" name="User text"/>
          <p:cNvSpPr txBox="1"/>
          <p:nvPr/>
        </p:nvSpPr>
        <p:spPr>
          <a:xfrm>
            <a:off x="6473952" y="2743200"/>
            <a:ext cx="4892040" cy="1234440"/>
          </a:xfrm>
          <a:prstGeom prst="rect">
            <a:avLst/>
          </a:prstGeom>
          <a:noFill/>
        </p:spPr>
        <p:txBody>
          <a:bodyPr wrap="square" lIns="0" tIns="0" rIns="0" bIns="0" rtlCol="0" anchor="t"/>
          <a:lstStyle/>
          <a:p>
            <a:pPr marL="0" indent="0">
              <a:buNone/>
            </a:pPr>
            <a:r>
              <a:rPr lang="en-US" sz="1600" dirty="0">
                <a:solidFill>
                  <a:schemeClr val="tx1"/>
                </a:solidFill>
              </a:rPr>
              <a:t>Never logs in. Replies by email or opens an auction link. Gets paid on time because the buyer can finally see the deadline.</a:t>
            </a:r>
            <a:endParaRPr lang="en-US" sz="1600" dirty="0"/>
          </a:p>
        </p:txBody>
      </p:sp>
      <p:sp>
        <p:nvSpPr>
          <p:cNvPr id="16" name="Fact tile 1"/>
          <p:cNvSpPr/>
          <p:nvPr/>
        </p:nvSpPr>
        <p:spPr>
          <a:xfrm>
            <a:off x="548640" y="4297680"/>
            <a:ext cx="2651760" cy="1143000"/>
          </a:xfrm>
          <a:prstGeom prst="roundRect">
            <a:avLst>
              <a:gd name="adj" fmla="val 8000"/>
            </a:avLst>
          </a:prstGeom>
          <a:solidFill>
            <a:schemeClr val="accent4"/>
          </a:solidFill>
        </p:spPr>
      </p:sp>
      <p:sp>
        <p:nvSpPr>
          <p:cNvPr id="17" name="Fact value"/>
          <p:cNvSpPr txBox="1"/>
          <p:nvPr/>
        </p:nvSpPr>
        <p:spPr>
          <a:xfrm>
            <a:off x="731520" y="4389120"/>
            <a:ext cx="2286000" cy="411480"/>
          </a:xfrm>
          <a:prstGeom prst="rect">
            <a:avLst/>
          </a:prstGeom>
          <a:noFill/>
        </p:spPr>
        <p:txBody>
          <a:bodyPr wrap="square" lIns="0" tIns="0" rIns="0" bIns="0" rtlCol="0" anchor="t"/>
          <a:lstStyle/>
          <a:p>
            <a:pPr marL="0" indent="0">
              <a:buNone/>
            </a:pPr>
            <a:r>
              <a:rPr lang="en-US" sz="2200" b="1" dirty="0">
                <a:solidFill>
                  <a:srgbClr val="A85A00"/>
                </a:solidFill>
              </a:rPr>
              <a:t>₹5–500 Cr</a:t>
            </a:r>
            <a:endParaRPr lang="en-US" sz="2200" dirty="0"/>
          </a:p>
        </p:txBody>
      </p:sp>
      <p:sp>
        <p:nvSpPr>
          <p:cNvPr id="18" name="Fact label"/>
          <p:cNvSpPr txBox="1"/>
          <p:nvPr/>
        </p:nvSpPr>
        <p:spPr>
          <a:xfrm>
            <a:off x="731520" y="4828032"/>
            <a:ext cx="2286000" cy="548640"/>
          </a:xfrm>
          <a:prstGeom prst="rect">
            <a:avLst/>
          </a:prstGeom>
          <a:noFill/>
        </p:spPr>
        <p:txBody>
          <a:bodyPr wrap="square" lIns="0" tIns="0" rIns="0" bIns="0" rtlCol="0" anchor="t"/>
          <a:lstStyle/>
          <a:p>
            <a:pPr marL="0" indent="0">
              <a:buNone/>
            </a:pPr>
            <a:r>
              <a:rPr lang="en-US" sz="1300" dirty="0">
                <a:solidFill>
                  <a:schemeClr val="tx1"/>
                </a:solidFill>
              </a:rPr>
              <a:t>turnover range</a:t>
            </a:r>
            <a:endParaRPr lang="en-US" sz="1300" dirty="0"/>
          </a:p>
        </p:txBody>
      </p:sp>
      <p:sp>
        <p:nvSpPr>
          <p:cNvPr id="19" name="Fact tile 2"/>
          <p:cNvSpPr/>
          <p:nvPr/>
        </p:nvSpPr>
        <p:spPr>
          <a:xfrm>
            <a:off x="3362249" y="4297680"/>
            <a:ext cx="2651760" cy="1143000"/>
          </a:xfrm>
          <a:prstGeom prst="roundRect">
            <a:avLst>
              <a:gd name="adj" fmla="val 8000"/>
            </a:avLst>
          </a:prstGeom>
          <a:solidFill>
            <a:schemeClr val="accent4"/>
          </a:solidFill>
        </p:spPr>
      </p:sp>
      <p:sp>
        <p:nvSpPr>
          <p:cNvPr id="20" name="Fact value"/>
          <p:cNvSpPr txBox="1"/>
          <p:nvPr/>
        </p:nvSpPr>
        <p:spPr>
          <a:xfrm>
            <a:off x="3545129" y="4389120"/>
            <a:ext cx="2286000" cy="411480"/>
          </a:xfrm>
          <a:prstGeom prst="rect">
            <a:avLst/>
          </a:prstGeom>
          <a:noFill/>
        </p:spPr>
        <p:txBody>
          <a:bodyPr wrap="square" lIns="0" tIns="0" rIns="0" bIns="0" rtlCol="0" anchor="t"/>
          <a:lstStyle/>
          <a:p>
            <a:pPr marL="0" indent="0">
              <a:buNone/>
            </a:pPr>
            <a:r>
              <a:rPr lang="en-US" sz="2200" b="1" dirty="0">
                <a:solidFill>
                  <a:srgbClr val="A85A00"/>
                </a:solidFill>
              </a:rPr>
              <a:t>20–100</a:t>
            </a:r>
            <a:endParaRPr lang="en-US" sz="2200" dirty="0"/>
          </a:p>
        </p:txBody>
      </p:sp>
      <p:sp>
        <p:nvSpPr>
          <p:cNvPr id="21" name="Fact label"/>
          <p:cNvSpPr txBox="1"/>
          <p:nvPr/>
        </p:nvSpPr>
        <p:spPr>
          <a:xfrm>
            <a:off x="3545129" y="4828032"/>
            <a:ext cx="2286000" cy="548640"/>
          </a:xfrm>
          <a:prstGeom prst="rect">
            <a:avLst/>
          </a:prstGeom>
          <a:noFill/>
        </p:spPr>
        <p:txBody>
          <a:bodyPr wrap="square" lIns="0" tIns="0" rIns="0" bIns="0" rtlCol="0" anchor="t"/>
          <a:lstStyle/>
          <a:p>
            <a:pPr marL="0" indent="0">
              <a:buNone/>
            </a:pPr>
            <a:r>
              <a:rPr lang="en-US" sz="1300" dirty="0">
                <a:solidFill>
                  <a:schemeClr val="tx1"/>
                </a:solidFill>
              </a:rPr>
              <a:t>suppliers, mostly small local firms</a:t>
            </a:r>
            <a:endParaRPr lang="en-US" sz="1300" dirty="0"/>
          </a:p>
        </p:txBody>
      </p:sp>
      <p:sp>
        <p:nvSpPr>
          <p:cNvPr id="22" name="Fact tile 3"/>
          <p:cNvSpPr/>
          <p:nvPr/>
        </p:nvSpPr>
        <p:spPr>
          <a:xfrm>
            <a:off x="6175858" y="4297680"/>
            <a:ext cx="2651760" cy="1143000"/>
          </a:xfrm>
          <a:prstGeom prst="roundRect">
            <a:avLst>
              <a:gd name="adj" fmla="val 8000"/>
            </a:avLst>
          </a:prstGeom>
          <a:solidFill>
            <a:schemeClr val="accent4"/>
          </a:solidFill>
        </p:spPr>
      </p:sp>
      <p:sp>
        <p:nvSpPr>
          <p:cNvPr id="23" name="Fact value"/>
          <p:cNvSpPr txBox="1"/>
          <p:nvPr/>
        </p:nvSpPr>
        <p:spPr>
          <a:xfrm>
            <a:off x="6358738" y="4389120"/>
            <a:ext cx="2286000" cy="411480"/>
          </a:xfrm>
          <a:prstGeom prst="rect">
            <a:avLst/>
          </a:prstGeom>
          <a:noFill/>
        </p:spPr>
        <p:txBody>
          <a:bodyPr wrap="square" lIns="0" tIns="0" rIns="0" bIns="0" rtlCol="0" anchor="t"/>
          <a:lstStyle/>
          <a:p>
            <a:pPr marL="0" indent="0">
              <a:buNone/>
            </a:pPr>
            <a:r>
              <a:rPr lang="en-US" sz="2200" b="1" dirty="0">
                <a:solidFill>
                  <a:srgbClr val="A85A00"/>
                </a:solidFill>
              </a:rPr>
              <a:t>Every week</a:t>
            </a:r>
            <a:endParaRPr lang="en-US" sz="2200" dirty="0"/>
          </a:p>
        </p:txBody>
      </p:sp>
      <p:sp>
        <p:nvSpPr>
          <p:cNvPr id="24" name="Fact label"/>
          <p:cNvSpPr txBox="1"/>
          <p:nvPr/>
        </p:nvSpPr>
        <p:spPr>
          <a:xfrm>
            <a:off x="6358738" y="4828032"/>
            <a:ext cx="2286000" cy="548640"/>
          </a:xfrm>
          <a:prstGeom prst="rect">
            <a:avLst/>
          </a:prstGeom>
          <a:noFill/>
        </p:spPr>
        <p:txBody>
          <a:bodyPr wrap="square" lIns="0" tIns="0" rIns="0" bIns="0" rtlCol="0" anchor="t"/>
          <a:lstStyle/>
          <a:p>
            <a:pPr marL="0" indent="0">
              <a:buNone/>
            </a:pPr>
            <a:r>
              <a:rPr lang="en-US" sz="1300" dirty="0">
                <a:solidFill>
                  <a:schemeClr val="tx1"/>
                </a:solidFill>
              </a:rPr>
              <a:t>repeat buys: steel, furniture, fasteners, safety gear</a:t>
            </a:r>
            <a:endParaRPr lang="en-US" sz="1300" dirty="0"/>
          </a:p>
        </p:txBody>
      </p:sp>
      <p:sp>
        <p:nvSpPr>
          <p:cNvPr id="25" name="Fact tile 4"/>
          <p:cNvSpPr/>
          <p:nvPr/>
        </p:nvSpPr>
        <p:spPr>
          <a:xfrm>
            <a:off x="8989466" y="4297680"/>
            <a:ext cx="2651760" cy="1143000"/>
          </a:xfrm>
          <a:prstGeom prst="roundRect">
            <a:avLst>
              <a:gd name="adj" fmla="val 8000"/>
            </a:avLst>
          </a:prstGeom>
          <a:solidFill>
            <a:schemeClr val="accent4"/>
          </a:solidFill>
        </p:spPr>
      </p:sp>
      <p:sp>
        <p:nvSpPr>
          <p:cNvPr id="26" name="Fact value"/>
          <p:cNvSpPr txBox="1"/>
          <p:nvPr/>
        </p:nvSpPr>
        <p:spPr>
          <a:xfrm>
            <a:off x="9172346" y="4389120"/>
            <a:ext cx="2286000" cy="411480"/>
          </a:xfrm>
          <a:prstGeom prst="rect">
            <a:avLst/>
          </a:prstGeom>
          <a:noFill/>
        </p:spPr>
        <p:txBody>
          <a:bodyPr wrap="square" lIns="0" tIns="0" rIns="0" bIns="0" rtlCol="0" anchor="t"/>
          <a:lstStyle/>
          <a:p>
            <a:pPr marL="0" indent="0">
              <a:buNone/>
            </a:pPr>
            <a:r>
              <a:rPr lang="en-US" sz="2200" b="1" dirty="0">
                <a:solidFill>
                  <a:srgbClr val="A85A00"/>
                </a:solidFill>
              </a:rPr>
              <a:t>Email + Excel</a:t>
            </a:r>
            <a:endParaRPr lang="en-US" sz="2200" dirty="0"/>
          </a:p>
        </p:txBody>
      </p:sp>
      <p:sp>
        <p:nvSpPr>
          <p:cNvPr id="27" name="Fact label"/>
          <p:cNvSpPr txBox="1"/>
          <p:nvPr/>
        </p:nvSpPr>
        <p:spPr>
          <a:xfrm>
            <a:off x="9172346" y="4828032"/>
            <a:ext cx="2286000" cy="548640"/>
          </a:xfrm>
          <a:prstGeom prst="rect">
            <a:avLst/>
          </a:prstGeom>
          <a:noFill/>
        </p:spPr>
        <p:txBody>
          <a:bodyPr wrap="square" lIns="0" tIns="0" rIns="0" bIns="0" rtlCol="0" anchor="t"/>
          <a:lstStyle/>
          <a:p>
            <a:pPr marL="0" indent="0">
              <a:buNone/>
            </a:pPr>
            <a:r>
              <a:rPr lang="en-US" sz="1300" dirty="0">
                <a:solidFill>
                  <a:schemeClr val="tx1"/>
                </a:solidFill>
              </a:rPr>
              <a:t>what they use today</a:t>
            </a:r>
            <a:endParaRPr lang="en-US" sz="1300" dirty="0"/>
          </a:p>
        </p:txBody>
      </p:sp>
      <p:sp>
        <p:nvSpPr>
          <p:cNvPr id="28" name="Scope note"/>
          <p:cNvSpPr txBox="1"/>
          <p:nvPr/>
        </p:nvSpPr>
        <p:spPr>
          <a:xfrm>
            <a:off x="548640" y="5669280"/>
            <a:ext cx="11091672" cy="548640"/>
          </a:xfrm>
          <a:prstGeom prst="rect">
            <a:avLst/>
          </a:prstGeom>
          <a:noFill/>
        </p:spPr>
        <p:txBody>
          <a:bodyPr wrap="square" lIns="0" tIns="0" rIns="0" bIns="0" rtlCol="0" anchor="t"/>
          <a:lstStyle/>
          <a:p>
            <a:pPr marL="0" indent="0">
              <a:buNone/>
            </a:pPr>
            <a:r>
              <a:rPr lang="en-US" sz="1300" b="1" dirty="0">
                <a:solidFill>
                  <a:srgbClr val="5B6478"/>
                </a:solidFill>
              </a:rPr>
              <a:t>Not for: </a:t>
            </a:r>
            <a:r>
              <a:rPr lang="en-US" sz="1300" dirty="0">
                <a:solidFill>
                  <a:srgbClr val="5B6478"/>
                </a:solidFill>
              </a:rPr>
              <a:t>large enterprises already on a procure-to-pay suite, government tendering, or consumer buying. The wedge is firms with the same legal duty as an enterprise but no system at all.</a:t>
            </a:r>
            <a:endParaRPr lang="en-US" sz="1300" dirty="0"/>
          </a:p>
        </p:txBody>
      </p:sp>
      <p:sp>
        <p:nvSpPr>
          <p:cNvPr id="29"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WHY AN AGENT</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Why it has to be an agent, not a form</a:t>
            </a:r>
            <a:endParaRPr lang="en-US" sz="3400" dirty="0"/>
          </a:p>
        </p:txBody>
      </p:sp>
      <p:sp>
        <p:nvSpPr>
          <p:cNvPr id="4" name="Reason card 1"/>
          <p:cNvSpPr/>
          <p:nvPr/>
        </p:nvSpPr>
        <p:spPr>
          <a:xfrm>
            <a:off x="548640" y="1645920"/>
            <a:ext cx="3566160" cy="4023360"/>
          </a:xfrm>
          <a:prstGeom prst="roundRect">
            <a:avLst>
              <a:gd name="adj" fmla="val 3077"/>
            </a:avLst>
          </a:prstGeom>
          <a:solidFill>
            <a:schemeClr val="bg2"/>
          </a:solidFill>
        </p:spPr>
      </p:sp>
      <p:sp>
        <p:nvSpPr>
          <p:cNvPr id="5" name="Number circle"/>
          <p:cNvSpPr/>
          <p:nvPr/>
        </p:nvSpPr>
        <p:spPr>
          <a:xfrm>
            <a:off x="822960" y="1874520"/>
            <a:ext cx="566928" cy="566928"/>
          </a:xfrm>
          <a:prstGeom prst="ellipse">
            <a:avLst/>
          </a:prstGeom>
          <a:solidFill>
            <a:schemeClr val="accent1"/>
          </a:solidFill>
        </p:spPr>
      </p:sp>
      <p:sp>
        <p:nvSpPr>
          <p:cNvPr id="6" name="Number"/>
          <p:cNvSpPr txBox="1"/>
          <p:nvPr/>
        </p:nvSpPr>
        <p:spPr>
          <a:xfrm>
            <a:off x="822960" y="1874520"/>
            <a:ext cx="566928" cy="566928"/>
          </a:xfrm>
          <a:prstGeom prst="rect">
            <a:avLst/>
          </a:prstGeom>
          <a:noFill/>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7" name="Reason heading"/>
          <p:cNvSpPr txBox="1"/>
          <p:nvPr/>
        </p:nvSpPr>
        <p:spPr>
          <a:xfrm>
            <a:off x="822960" y="2651760"/>
            <a:ext cx="3063240" cy="640080"/>
          </a:xfrm>
          <a:prstGeom prst="rect">
            <a:avLst/>
          </a:prstGeom>
          <a:noFill/>
        </p:spPr>
        <p:txBody>
          <a:bodyPr wrap="square" lIns="0" tIns="0" rIns="0" bIns="0" rtlCol="0" anchor="t"/>
          <a:lstStyle/>
          <a:p>
            <a:pPr marL="0" indent="0">
              <a:buNone/>
            </a:pPr>
            <a:r>
              <a:rPr lang="en-US" sz="2000" b="1" dirty="0">
                <a:solidFill>
                  <a:schemeClr val="tx1"/>
                </a:solidFill>
              </a:rPr>
              <a:t>You don't control the input</a:t>
            </a:r>
            <a:endParaRPr lang="en-US" sz="2000" dirty="0"/>
          </a:p>
        </p:txBody>
      </p:sp>
      <p:sp>
        <p:nvSpPr>
          <p:cNvPr id="8" name="Reason text"/>
          <p:cNvSpPr txBox="1"/>
          <p:nvPr/>
        </p:nvSpPr>
        <p:spPr>
          <a:xfrm>
            <a:off x="822960" y="3337560"/>
            <a:ext cx="3063240" cy="1645920"/>
          </a:xfrm>
          <a:prstGeom prst="rect">
            <a:avLst/>
          </a:prstGeom>
          <a:noFill/>
        </p:spPr>
        <p:txBody>
          <a:bodyPr wrap="square" lIns="0" tIns="0" rIns="0" bIns="0" rtlCol="0" anchor="t"/>
          <a:lstStyle/>
          <a:p>
            <a:pPr marL="0" indent="0">
              <a:buNone/>
            </a:pPr>
            <a:r>
              <a:rPr lang="en-US" sz="1600" dirty="0">
                <a:solidFill>
                  <a:schemeClr val="tx1"/>
                </a:solidFill>
              </a:rPr>
              <a:t>Quotes arrive as scans, photos and mail text. Portals make suppliers fill a form first, which is why they never reach Indian SMEs. An agent reads whatever arrives.</a:t>
            </a:r>
            <a:endParaRPr lang="en-US" sz="1600" dirty="0"/>
          </a:p>
        </p:txBody>
      </p:sp>
      <p:sp>
        <p:nvSpPr>
          <p:cNvPr id="9" name="Defeats tag"/>
          <p:cNvSpPr/>
          <p:nvPr/>
        </p:nvSpPr>
        <p:spPr>
          <a:xfrm>
            <a:off x="822960" y="5029200"/>
            <a:ext cx="3017520" cy="402336"/>
          </a:xfrm>
          <a:prstGeom prst="roundRect">
            <a:avLst>
              <a:gd name="adj" fmla="val 18182"/>
            </a:avLst>
          </a:prstGeom>
          <a:solidFill>
            <a:schemeClr val="accent6"/>
          </a:solidFill>
        </p:spPr>
      </p:sp>
      <p:sp>
        <p:nvSpPr>
          <p:cNvPr id="10" name="Defeats text"/>
          <p:cNvSpPr txBox="1"/>
          <p:nvPr/>
        </p:nvSpPr>
        <p:spPr>
          <a:xfrm>
            <a:off x="822960" y="5029200"/>
            <a:ext cx="3017520" cy="402336"/>
          </a:xfrm>
          <a:prstGeom prst="rect">
            <a:avLst/>
          </a:prstGeom>
          <a:noFill/>
        </p:spPr>
        <p:txBody>
          <a:bodyPr wrap="square" lIns="0" tIns="0" rIns="0" bIns="0" rtlCol="0" anchor="ctr"/>
          <a:lstStyle/>
          <a:p>
            <a:pPr marL="0" indent="0" algn="ctr">
              <a:buNone/>
            </a:pPr>
            <a:r>
              <a:rPr lang="en-US" sz="1200" b="1" dirty="0">
                <a:solidFill>
                  <a:schemeClr val="accent3"/>
                </a:solidFill>
              </a:rPr>
              <a:t>Defeats: a form</a:t>
            </a:r>
            <a:endParaRPr lang="en-US" sz="1200" dirty="0"/>
          </a:p>
        </p:txBody>
      </p:sp>
      <p:sp>
        <p:nvSpPr>
          <p:cNvPr id="11" name="Reason card 2"/>
          <p:cNvSpPr/>
          <p:nvPr/>
        </p:nvSpPr>
        <p:spPr>
          <a:xfrm>
            <a:off x="4311396" y="1645920"/>
            <a:ext cx="3566160" cy="4023360"/>
          </a:xfrm>
          <a:prstGeom prst="roundRect">
            <a:avLst>
              <a:gd name="adj" fmla="val 3077"/>
            </a:avLst>
          </a:prstGeom>
          <a:solidFill>
            <a:schemeClr val="bg2"/>
          </a:solidFill>
        </p:spPr>
      </p:sp>
      <p:sp>
        <p:nvSpPr>
          <p:cNvPr id="12" name="Number circle"/>
          <p:cNvSpPr/>
          <p:nvPr/>
        </p:nvSpPr>
        <p:spPr>
          <a:xfrm>
            <a:off x="4585716" y="1874520"/>
            <a:ext cx="566928" cy="566928"/>
          </a:xfrm>
          <a:prstGeom prst="ellipse">
            <a:avLst/>
          </a:prstGeom>
          <a:solidFill>
            <a:schemeClr val="accent1"/>
          </a:solidFill>
        </p:spPr>
      </p:sp>
      <p:sp>
        <p:nvSpPr>
          <p:cNvPr id="13" name="Number"/>
          <p:cNvSpPr txBox="1"/>
          <p:nvPr/>
        </p:nvSpPr>
        <p:spPr>
          <a:xfrm>
            <a:off x="4585716" y="1874520"/>
            <a:ext cx="566928" cy="566928"/>
          </a:xfrm>
          <a:prstGeom prst="rect">
            <a:avLst/>
          </a:prstGeom>
          <a:noFill/>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4" name="Reason heading"/>
          <p:cNvSpPr txBox="1"/>
          <p:nvPr/>
        </p:nvSpPr>
        <p:spPr>
          <a:xfrm>
            <a:off x="4585716" y="2651760"/>
            <a:ext cx="3063240" cy="640080"/>
          </a:xfrm>
          <a:prstGeom prst="rect">
            <a:avLst/>
          </a:prstGeom>
          <a:noFill/>
        </p:spPr>
        <p:txBody>
          <a:bodyPr wrap="square" lIns="0" tIns="0" rIns="0" bIns="0" rtlCol="0" anchor="t"/>
          <a:lstStyle/>
          <a:p>
            <a:pPr marL="0" indent="0">
              <a:buNone/>
            </a:pPr>
            <a:r>
              <a:rPr lang="en-US" sz="2000" b="1" dirty="0">
                <a:solidFill>
                  <a:schemeClr val="tx1"/>
                </a:solidFill>
              </a:rPr>
              <a:t>It is a chain, not one step</a:t>
            </a:r>
            <a:endParaRPr lang="en-US" sz="2000" dirty="0"/>
          </a:p>
        </p:txBody>
      </p:sp>
      <p:sp>
        <p:nvSpPr>
          <p:cNvPr id="15" name="Reason text"/>
          <p:cNvSpPr txBox="1"/>
          <p:nvPr/>
        </p:nvSpPr>
        <p:spPr>
          <a:xfrm>
            <a:off x="4585716" y="3337560"/>
            <a:ext cx="3063240" cy="1645920"/>
          </a:xfrm>
          <a:prstGeom prst="rect">
            <a:avLst/>
          </a:prstGeom>
          <a:noFill/>
        </p:spPr>
        <p:txBody>
          <a:bodyPr wrap="square" lIns="0" tIns="0" rIns="0" bIns="0" rtlCol="0" anchor="t"/>
          <a:lstStyle/>
          <a:p>
            <a:pPr marL="0" indent="0">
              <a:buNone/>
            </a:pPr>
            <a:r>
              <a:rPr lang="en-US" sz="1600" dirty="0">
                <a:solidFill>
                  <a:schemeClr val="tx1"/>
                </a:solidFill>
              </a:rPr>
              <a:t>One sentence becomes eight steps over days. A revised price or a late reply can show up at any point, so the branches cannot be drawn in advance.</a:t>
            </a:r>
            <a:endParaRPr lang="en-US" sz="1600" dirty="0"/>
          </a:p>
        </p:txBody>
      </p:sp>
      <p:sp>
        <p:nvSpPr>
          <p:cNvPr id="16" name="Defeats tag"/>
          <p:cNvSpPr/>
          <p:nvPr/>
        </p:nvSpPr>
        <p:spPr>
          <a:xfrm>
            <a:off x="4585716" y="5029200"/>
            <a:ext cx="3017520" cy="402336"/>
          </a:xfrm>
          <a:prstGeom prst="roundRect">
            <a:avLst>
              <a:gd name="adj" fmla="val 18182"/>
            </a:avLst>
          </a:prstGeom>
          <a:solidFill>
            <a:schemeClr val="accent6"/>
          </a:solidFill>
        </p:spPr>
      </p:sp>
      <p:sp>
        <p:nvSpPr>
          <p:cNvPr id="17" name="Defeats text"/>
          <p:cNvSpPr txBox="1"/>
          <p:nvPr/>
        </p:nvSpPr>
        <p:spPr>
          <a:xfrm>
            <a:off x="4585716" y="5029200"/>
            <a:ext cx="3017520" cy="402336"/>
          </a:xfrm>
          <a:prstGeom prst="rect">
            <a:avLst/>
          </a:prstGeom>
          <a:noFill/>
        </p:spPr>
        <p:txBody>
          <a:bodyPr wrap="square" lIns="0" tIns="0" rIns="0" bIns="0" rtlCol="0" anchor="ctr"/>
          <a:lstStyle/>
          <a:p>
            <a:pPr marL="0" indent="0" algn="ctr">
              <a:buNone/>
            </a:pPr>
            <a:r>
              <a:rPr lang="en-US" sz="1200" b="1" dirty="0">
                <a:solidFill>
                  <a:schemeClr val="accent3"/>
                </a:solidFill>
              </a:rPr>
              <a:t>Defeats: a workflow engine</a:t>
            </a:r>
            <a:endParaRPr lang="en-US" sz="1200" dirty="0"/>
          </a:p>
        </p:txBody>
      </p:sp>
      <p:sp>
        <p:nvSpPr>
          <p:cNvPr id="18" name="Reason card 3"/>
          <p:cNvSpPr/>
          <p:nvPr/>
        </p:nvSpPr>
        <p:spPr>
          <a:xfrm>
            <a:off x="8074152" y="1645920"/>
            <a:ext cx="3566160" cy="4023360"/>
          </a:xfrm>
          <a:prstGeom prst="roundRect">
            <a:avLst>
              <a:gd name="adj" fmla="val 3077"/>
            </a:avLst>
          </a:prstGeom>
          <a:solidFill>
            <a:schemeClr val="bg2"/>
          </a:solidFill>
        </p:spPr>
      </p:sp>
      <p:sp>
        <p:nvSpPr>
          <p:cNvPr id="19" name="Number circle"/>
          <p:cNvSpPr/>
          <p:nvPr/>
        </p:nvSpPr>
        <p:spPr>
          <a:xfrm>
            <a:off x="8348472" y="1874520"/>
            <a:ext cx="566928" cy="566928"/>
          </a:xfrm>
          <a:prstGeom prst="ellipse">
            <a:avLst/>
          </a:prstGeom>
          <a:solidFill>
            <a:schemeClr val="accent1"/>
          </a:solidFill>
        </p:spPr>
      </p:sp>
      <p:sp>
        <p:nvSpPr>
          <p:cNvPr id="20" name="Number"/>
          <p:cNvSpPr txBox="1"/>
          <p:nvPr/>
        </p:nvSpPr>
        <p:spPr>
          <a:xfrm>
            <a:off x="8348472" y="1874520"/>
            <a:ext cx="566928" cy="566928"/>
          </a:xfrm>
          <a:prstGeom prst="rect">
            <a:avLst/>
          </a:prstGeom>
          <a:noFill/>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21" name="Reason heading"/>
          <p:cNvSpPr txBox="1"/>
          <p:nvPr/>
        </p:nvSpPr>
        <p:spPr>
          <a:xfrm>
            <a:off x="8348472" y="2651760"/>
            <a:ext cx="3063240" cy="640080"/>
          </a:xfrm>
          <a:prstGeom prst="rect">
            <a:avLst/>
          </a:prstGeom>
          <a:noFill/>
        </p:spPr>
        <p:txBody>
          <a:bodyPr wrap="square" lIns="0" tIns="0" rIns="0" bIns="0" rtlCol="0" anchor="t"/>
          <a:lstStyle/>
          <a:p>
            <a:pPr marL="0" indent="0">
              <a:buNone/>
            </a:pPr>
            <a:r>
              <a:rPr lang="en-US" sz="2000" b="1" dirty="0">
                <a:solidFill>
                  <a:schemeClr val="tx1"/>
                </a:solidFill>
              </a:rPr>
              <a:t>The criteria change every time</a:t>
            </a:r>
            <a:endParaRPr lang="en-US" sz="2000" dirty="0"/>
          </a:p>
        </p:txBody>
      </p:sp>
      <p:sp>
        <p:nvSpPr>
          <p:cNvPr id="22" name="Reason text"/>
          <p:cNvSpPr txBox="1"/>
          <p:nvPr/>
        </p:nvSpPr>
        <p:spPr>
          <a:xfrm>
            <a:off x="8348472" y="3337560"/>
            <a:ext cx="3063240" cy="1645920"/>
          </a:xfrm>
          <a:prstGeom prst="rect">
            <a:avLst/>
          </a:prstGeom>
          <a:noFill/>
        </p:spPr>
        <p:txBody>
          <a:bodyPr wrap="square" lIns="0" tIns="0" rIns="0" bIns="0" rtlCol="0" anchor="t"/>
          <a:lstStyle/>
          <a:p>
            <a:pPr marL="0" indent="0">
              <a:buNone/>
            </a:pPr>
            <a:r>
              <a:rPr lang="en-US" sz="1600" dirty="0">
                <a:solidFill>
                  <a:schemeClr val="tx1"/>
                </a:solidFill>
              </a:rPr>
              <a:t>Cheapest is not best. One month delivery decides, the next month payment terms. And always: is this supplier MSME, because that sets the legal deadline.</a:t>
            </a:r>
            <a:endParaRPr lang="en-US" sz="1600" dirty="0"/>
          </a:p>
        </p:txBody>
      </p:sp>
      <p:sp>
        <p:nvSpPr>
          <p:cNvPr id="23" name="Defeats tag"/>
          <p:cNvSpPr/>
          <p:nvPr/>
        </p:nvSpPr>
        <p:spPr>
          <a:xfrm>
            <a:off x="8348472" y="5029200"/>
            <a:ext cx="3017520" cy="402336"/>
          </a:xfrm>
          <a:prstGeom prst="roundRect">
            <a:avLst>
              <a:gd name="adj" fmla="val 18182"/>
            </a:avLst>
          </a:prstGeom>
          <a:solidFill>
            <a:schemeClr val="accent6"/>
          </a:solidFill>
        </p:spPr>
      </p:sp>
      <p:sp>
        <p:nvSpPr>
          <p:cNvPr id="24" name="Defeats text"/>
          <p:cNvSpPr txBox="1"/>
          <p:nvPr/>
        </p:nvSpPr>
        <p:spPr>
          <a:xfrm>
            <a:off x="8348472" y="5029200"/>
            <a:ext cx="3017520" cy="402336"/>
          </a:xfrm>
          <a:prstGeom prst="rect">
            <a:avLst/>
          </a:prstGeom>
          <a:noFill/>
        </p:spPr>
        <p:txBody>
          <a:bodyPr wrap="square" lIns="0" tIns="0" rIns="0" bIns="0" rtlCol="0" anchor="ctr"/>
          <a:lstStyle/>
          <a:p>
            <a:pPr marL="0" indent="0" algn="ctr">
              <a:buNone/>
            </a:pPr>
            <a:r>
              <a:rPr lang="en-US" sz="1200" b="1" dirty="0">
                <a:solidFill>
                  <a:schemeClr val="accent3"/>
                </a:solidFill>
              </a:rPr>
              <a:t>Defeats: a chatbot that only answers</a:t>
            </a:r>
            <a:endParaRPr lang="en-US" sz="1200" dirty="0"/>
          </a:p>
        </p:txBody>
      </p:sp>
      <p:sp>
        <p:nvSpPr>
          <p:cNvPr id="25" name="Green tape"/>
          <p:cNvSpPr/>
          <p:nvPr/>
        </p:nvSpPr>
        <p:spPr>
          <a:xfrm>
            <a:off x="548640" y="5833872"/>
            <a:ext cx="11091672" cy="457200"/>
          </a:xfrm>
          <a:prstGeom prst="roundRect">
            <a:avLst>
              <a:gd name="adj" fmla="val 16000"/>
            </a:avLst>
          </a:prstGeom>
          <a:solidFill>
            <a:schemeClr val="accent5"/>
          </a:solidFill>
        </p:spPr>
      </p:sp>
      <p:sp>
        <p:nvSpPr>
          <p:cNvPr id="26" name="Green tape text"/>
          <p:cNvSpPr txBox="1"/>
          <p:nvPr/>
        </p:nvSpPr>
        <p:spPr>
          <a:xfrm>
            <a:off x="777240" y="5833872"/>
            <a:ext cx="10698480" cy="457200"/>
          </a:xfrm>
          <a:prstGeom prst="rect">
            <a:avLst/>
          </a:prstGeom>
          <a:noFill/>
        </p:spPr>
        <p:txBody>
          <a:bodyPr wrap="square" lIns="0" tIns="0" rIns="0" bIns="0" rtlCol="0" anchor="ctr"/>
          <a:lstStyle/>
          <a:p>
            <a:pPr marL="0" indent="0">
              <a:buNone/>
            </a:pPr>
            <a:r>
              <a:rPr lang="en-US" sz="1400" b="1" dirty="0">
                <a:solidFill>
                  <a:schemeClr val="accent2"/>
                </a:solidFill>
              </a:rPr>
              <a:t>So Procurix reads the mess, plans the chain, and acts on your criteria.</a:t>
            </a:r>
            <a:endParaRPr lang="en-US" sz="1400" dirty="0"/>
          </a:p>
        </p:txBody>
      </p:sp>
      <p:sp>
        <p:nvSpPr>
          <p:cNvPr id="27"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THE SOLUTION</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One chat box runs the whole buying loop</a:t>
            </a:r>
            <a:endParaRPr lang="en-US" sz="3400" dirty="0"/>
          </a:p>
        </p:txBody>
      </p:sp>
      <p:sp>
        <p:nvSpPr>
          <p:cNvPr id="4" name="Step chip 1"/>
          <p:cNvSpPr/>
          <p:nvPr/>
        </p:nvSpPr>
        <p:spPr>
          <a:xfrm>
            <a:off x="548640" y="1600200"/>
            <a:ext cx="1719072" cy="731520"/>
          </a:xfrm>
          <a:prstGeom prst="roundRect">
            <a:avLst>
              <a:gd name="adj" fmla="val 10000"/>
            </a:avLst>
          </a:prstGeom>
          <a:solidFill>
            <a:schemeClr val="accent5"/>
          </a:solidFill>
        </p:spPr>
      </p:sp>
      <p:sp>
        <p:nvSpPr>
          <p:cNvPr id="5" name="Step text"/>
          <p:cNvSpPr txBox="1"/>
          <p:nvPr/>
        </p:nvSpPr>
        <p:spPr>
          <a:xfrm>
            <a:off x="658368" y="1600200"/>
            <a:ext cx="1517904" cy="731520"/>
          </a:xfrm>
          <a:prstGeom prst="rect">
            <a:avLst/>
          </a:prstGeom>
          <a:noFill/>
        </p:spPr>
        <p:txBody>
          <a:bodyPr wrap="square" lIns="0" tIns="0" rIns="0" bIns="0" rtlCol="0" anchor="ctr"/>
          <a:lstStyle/>
          <a:p>
            <a:pPr marL="0" indent="0">
              <a:buNone/>
            </a:pPr>
            <a:r>
              <a:rPr lang="en-US" sz="1300" b="1" dirty="0">
                <a:solidFill>
                  <a:schemeClr val="accent2"/>
                </a:solidFill>
              </a:rPr>
              <a:t>1  </a:t>
            </a:r>
            <a:r>
              <a:rPr lang="en-US" sz="1300" b="1" dirty="0">
                <a:solidFill>
                  <a:schemeClr val="accent2"/>
                </a:solidFill>
              </a:rPr>
              <a:t>Describe it</a:t>
            </a:r>
            <a:endParaRPr lang="en-US" sz="1300" dirty="0"/>
          </a:p>
        </p:txBody>
      </p:sp>
      <p:sp>
        <p:nvSpPr>
          <p:cNvPr id="6" name="Step chip 2"/>
          <p:cNvSpPr/>
          <p:nvPr/>
        </p:nvSpPr>
        <p:spPr>
          <a:xfrm>
            <a:off x="2423160" y="1600200"/>
            <a:ext cx="1719072" cy="731520"/>
          </a:xfrm>
          <a:prstGeom prst="roundRect">
            <a:avLst>
              <a:gd name="adj" fmla="val 10000"/>
            </a:avLst>
          </a:prstGeom>
          <a:solidFill>
            <a:schemeClr val="accent5"/>
          </a:solidFill>
        </p:spPr>
      </p:sp>
      <p:sp>
        <p:nvSpPr>
          <p:cNvPr id="7" name="Step text"/>
          <p:cNvSpPr txBox="1"/>
          <p:nvPr/>
        </p:nvSpPr>
        <p:spPr>
          <a:xfrm>
            <a:off x="2532888" y="1600200"/>
            <a:ext cx="1517904" cy="731520"/>
          </a:xfrm>
          <a:prstGeom prst="rect">
            <a:avLst/>
          </a:prstGeom>
          <a:noFill/>
        </p:spPr>
        <p:txBody>
          <a:bodyPr wrap="square" lIns="0" tIns="0" rIns="0" bIns="0" rtlCol="0" anchor="ctr"/>
          <a:lstStyle/>
          <a:p>
            <a:pPr marL="0" indent="0">
              <a:buNone/>
            </a:pPr>
            <a:r>
              <a:rPr lang="en-US" sz="1300" b="1" dirty="0">
                <a:solidFill>
                  <a:schemeClr val="accent2"/>
                </a:solidFill>
              </a:rPr>
              <a:t>2  </a:t>
            </a:r>
            <a:r>
              <a:rPr lang="en-US" sz="1300" b="1" dirty="0">
                <a:solidFill>
                  <a:schemeClr val="accent2"/>
                </a:solidFill>
              </a:rPr>
              <a:t>RFP drafted and sent</a:t>
            </a:r>
            <a:endParaRPr lang="en-US" sz="1300" dirty="0"/>
          </a:p>
        </p:txBody>
      </p:sp>
      <p:sp>
        <p:nvSpPr>
          <p:cNvPr id="8" name="Step chip 3"/>
          <p:cNvSpPr/>
          <p:nvPr/>
        </p:nvSpPr>
        <p:spPr>
          <a:xfrm>
            <a:off x="4297680" y="1600200"/>
            <a:ext cx="1719072" cy="731520"/>
          </a:xfrm>
          <a:prstGeom prst="roundRect">
            <a:avLst>
              <a:gd name="adj" fmla="val 10000"/>
            </a:avLst>
          </a:prstGeom>
          <a:solidFill>
            <a:schemeClr val="accent5"/>
          </a:solidFill>
        </p:spPr>
      </p:sp>
      <p:sp>
        <p:nvSpPr>
          <p:cNvPr id="9" name="Step text"/>
          <p:cNvSpPr txBox="1"/>
          <p:nvPr/>
        </p:nvSpPr>
        <p:spPr>
          <a:xfrm>
            <a:off x="4407408" y="1600200"/>
            <a:ext cx="1517904" cy="731520"/>
          </a:xfrm>
          <a:prstGeom prst="rect">
            <a:avLst/>
          </a:prstGeom>
          <a:noFill/>
        </p:spPr>
        <p:txBody>
          <a:bodyPr wrap="square" lIns="0" tIns="0" rIns="0" bIns="0" rtlCol="0" anchor="ctr"/>
          <a:lstStyle/>
          <a:p>
            <a:pPr marL="0" indent="0">
              <a:buNone/>
            </a:pPr>
            <a:r>
              <a:rPr lang="en-US" sz="1300" b="1" dirty="0">
                <a:solidFill>
                  <a:schemeClr val="accent2"/>
                </a:solidFill>
              </a:rPr>
              <a:t>3  </a:t>
            </a:r>
            <a:r>
              <a:rPr lang="en-US" sz="1300" b="1" dirty="0">
                <a:solidFill>
                  <a:schemeClr val="accent2"/>
                </a:solidFill>
              </a:rPr>
              <a:t>Quotes read from email</a:t>
            </a:r>
            <a:endParaRPr lang="en-US" sz="1300" dirty="0"/>
          </a:p>
        </p:txBody>
      </p:sp>
      <p:sp>
        <p:nvSpPr>
          <p:cNvPr id="10" name="Step chip 4"/>
          <p:cNvSpPr/>
          <p:nvPr/>
        </p:nvSpPr>
        <p:spPr>
          <a:xfrm>
            <a:off x="6172200" y="1600200"/>
            <a:ext cx="1719072" cy="731520"/>
          </a:xfrm>
          <a:prstGeom prst="roundRect">
            <a:avLst>
              <a:gd name="adj" fmla="val 10000"/>
            </a:avLst>
          </a:prstGeom>
          <a:solidFill>
            <a:schemeClr val="accent5"/>
          </a:solidFill>
        </p:spPr>
      </p:sp>
      <p:sp>
        <p:nvSpPr>
          <p:cNvPr id="11" name="Step text"/>
          <p:cNvSpPr txBox="1"/>
          <p:nvPr/>
        </p:nvSpPr>
        <p:spPr>
          <a:xfrm>
            <a:off x="6281928" y="1600200"/>
            <a:ext cx="1517904" cy="731520"/>
          </a:xfrm>
          <a:prstGeom prst="rect">
            <a:avLst/>
          </a:prstGeom>
          <a:noFill/>
        </p:spPr>
        <p:txBody>
          <a:bodyPr wrap="square" lIns="0" tIns="0" rIns="0" bIns="0" rtlCol="0" anchor="ctr"/>
          <a:lstStyle/>
          <a:p>
            <a:pPr marL="0" indent="0">
              <a:buNone/>
            </a:pPr>
            <a:r>
              <a:rPr lang="en-US" sz="1300" b="1" dirty="0">
                <a:solidFill>
                  <a:schemeClr val="accent2"/>
                </a:solidFill>
              </a:rPr>
              <a:t>4  </a:t>
            </a:r>
            <a:r>
              <a:rPr lang="en-US" sz="1300" b="1" dirty="0">
                <a:solidFill>
                  <a:schemeClr val="accent2"/>
                </a:solidFill>
              </a:rPr>
              <a:t>Ranked on your weights</a:t>
            </a:r>
            <a:endParaRPr lang="en-US" sz="1300" dirty="0"/>
          </a:p>
        </p:txBody>
      </p:sp>
      <p:sp>
        <p:nvSpPr>
          <p:cNvPr id="12" name="Step chip 5"/>
          <p:cNvSpPr/>
          <p:nvPr/>
        </p:nvSpPr>
        <p:spPr>
          <a:xfrm>
            <a:off x="8046720" y="1600200"/>
            <a:ext cx="1719072" cy="731520"/>
          </a:xfrm>
          <a:prstGeom prst="roundRect">
            <a:avLst>
              <a:gd name="adj" fmla="val 10000"/>
            </a:avLst>
          </a:prstGeom>
          <a:solidFill>
            <a:schemeClr val="accent5"/>
          </a:solidFill>
        </p:spPr>
      </p:sp>
      <p:sp>
        <p:nvSpPr>
          <p:cNvPr id="13" name="Step text"/>
          <p:cNvSpPr txBox="1"/>
          <p:nvPr/>
        </p:nvSpPr>
        <p:spPr>
          <a:xfrm>
            <a:off x="8156448" y="1600200"/>
            <a:ext cx="1517904" cy="731520"/>
          </a:xfrm>
          <a:prstGeom prst="rect">
            <a:avLst/>
          </a:prstGeom>
          <a:noFill/>
        </p:spPr>
        <p:txBody>
          <a:bodyPr wrap="square" lIns="0" tIns="0" rIns="0" bIns="0" rtlCol="0" anchor="ctr"/>
          <a:lstStyle/>
          <a:p>
            <a:pPr marL="0" indent="0">
              <a:buNone/>
            </a:pPr>
            <a:r>
              <a:rPr lang="en-US" sz="1300" b="1" dirty="0">
                <a:solidFill>
                  <a:schemeClr val="accent2"/>
                </a:solidFill>
              </a:rPr>
              <a:t>5  </a:t>
            </a:r>
            <a:r>
              <a:rPr lang="en-US" sz="1300" b="1" dirty="0">
                <a:solidFill>
                  <a:schemeClr val="accent2"/>
                </a:solidFill>
              </a:rPr>
              <a:t>Award, PO issued</a:t>
            </a:r>
            <a:endParaRPr lang="en-US" sz="1300" dirty="0"/>
          </a:p>
        </p:txBody>
      </p:sp>
      <p:sp>
        <p:nvSpPr>
          <p:cNvPr id="14" name="Step chip 6"/>
          <p:cNvSpPr/>
          <p:nvPr/>
        </p:nvSpPr>
        <p:spPr>
          <a:xfrm>
            <a:off x="9921240" y="1600200"/>
            <a:ext cx="1719072" cy="731520"/>
          </a:xfrm>
          <a:prstGeom prst="roundRect">
            <a:avLst>
              <a:gd name="adj" fmla="val 10000"/>
            </a:avLst>
          </a:prstGeom>
          <a:solidFill>
            <a:schemeClr val="accent5"/>
          </a:solidFill>
        </p:spPr>
      </p:sp>
      <p:sp>
        <p:nvSpPr>
          <p:cNvPr id="15" name="Step text"/>
          <p:cNvSpPr txBox="1"/>
          <p:nvPr/>
        </p:nvSpPr>
        <p:spPr>
          <a:xfrm>
            <a:off x="10030968" y="1600200"/>
            <a:ext cx="1517904" cy="731520"/>
          </a:xfrm>
          <a:prstGeom prst="rect">
            <a:avLst/>
          </a:prstGeom>
          <a:noFill/>
        </p:spPr>
        <p:txBody>
          <a:bodyPr wrap="square" lIns="0" tIns="0" rIns="0" bIns="0" rtlCol="0" anchor="ctr"/>
          <a:lstStyle/>
          <a:p>
            <a:pPr marL="0" indent="0">
              <a:buNone/>
            </a:pPr>
            <a:r>
              <a:rPr lang="en-US" sz="1300" b="1" dirty="0">
                <a:solidFill>
                  <a:schemeClr val="accent2"/>
                </a:solidFill>
              </a:rPr>
              <a:t>6  </a:t>
            </a:r>
            <a:r>
              <a:rPr lang="en-US" sz="1300" b="1" dirty="0">
                <a:solidFill>
                  <a:schemeClr val="accent2"/>
                </a:solidFill>
              </a:rPr>
              <a:t>Payment clock watched</a:t>
            </a:r>
            <a:endParaRPr lang="en-US" sz="1300" dirty="0"/>
          </a:p>
        </p:txBody>
      </p:sp>
      <p:sp>
        <p:nvSpPr>
          <p:cNvPr id="16" name="Chat panel"/>
          <p:cNvSpPr/>
          <p:nvPr/>
        </p:nvSpPr>
        <p:spPr>
          <a:xfrm>
            <a:off x="548640" y="2560320"/>
            <a:ext cx="6949440" cy="3611880"/>
          </a:xfrm>
          <a:prstGeom prst="roundRect">
            <a:avLst>
              <a:gd name="adj" fmla="val 3038"/>
            </a:avLst>
          </a:prstGeom>
          <a:solidFill>
            <a:schemeClr val="bg2"/>
          </a:solidFill>
        </p:spPr>
      </p:sp>
      <p:sp>
        <p:nvSpPr>
          <p:cNvPr id="17" name="User bubble"/>
          <p:cNvSpPr/>
          <p:nvPr/>
        </p:nvSpPr>
        <p:spPr>
          <a:xfrm>
            <a:off x="2377440" y="2743200"/>
            <a:ext cx="4937760" cy="731520"/>
          </a:xfrm>
          <a:prstGeom prst="roundRect">
            <a:avLst>
              <a:gd name="adj" fmla="val 15000"/>
            </a:avLst>
          </a:prstGeom>
          <a:solidFill>
            <a:schemeClr val="tx1"/>
          </a:solidFill>
        </p:spPr>
      </p:sp>
      <p:sp>
        <p:nvSpPr>
          <p:cNvPr id="18" name="User message"/>
          <p:cNvSpPr txBox="1"/>
          <p:nvPr/>
        </p:nvSpPr>
        <p:spPr>
          <a:xfrm>
            <a:off x="2560320" y="2743200"/>
            <a:ext cx="4572000" cy="731520"/>
          </a:xfrm>
          <a:prstGeom prst="rect">
            <a:avLst/>
          </a:prstGeom>
          <a:noFill/>
        </p:spPr>
        <p:txBody>
          <a:bodyPr wrap="square" lIns="0" tIns="0" rIns="0" bIns="0" rtlCol="0" anchor="ctr"/>
          <a:lstStyle/>
          <a:p>
            <a:pPr marL="0" indent="0">
              <a:buNone/>
            </a:pPr>
            <a:r>
              <a:rPr lang="en-US" sz="1400" b="1" dirty="0">
                <a:solidFill>
                  <a:schemeClr val="bg1"/>
                </a:solidFill>
              </a:rPr>
              <a:t>I need 250 workstation desks. Get quotes from Kumar, Rapid and Godrej</a:t>
            </a:r>
            <a:endParaRPr lang="en-US" sz="1400" dirty="0"/>
          </a:p>
        </p:txBody>
      </p:sp>
      <p:sp>
        <p:nvSpPr>
          <p:cNvPr id="19" name="Agent bubble"/>
          <p:cNvSpPr/>
          <p:nvPr/>
        </p:nvSpPr>
        <p:spPr>
          <a:xfrm>
            <a:off x="731520" y="3611880"/>
            <a:ext cx="6583680" cy="1783080"/>
          </a:xfrm>
          <a:prstGeom prst="roundRect">
            <a:avLst>
              <a:gd name="adj" fmla="val 6154"/>
            </a:avLst>
          </a:prstGeom>
          <a:solidFill>
            <a:schemeClr val="bg1"/>
          </a:solidFill>
        </p:spPr>
      </p:sp>
      <p:sp>
        <p:nvSpPr>
          <p:cNvPr id="20" name="Agent label"/>
          <p:cNvSpPr txBox="1"/>
          <p:nvPr/>
        </p:nvSpPr>
        <p:spPr>
          <a:xfrm>
            <a:off x="960120" y="3703320"/>
            <a:ext cx="2743200" cy="201168"/>
          </a:xfrm>
          <a:prstGeom prst="rect">
            <a:avLst/>
          </a:prstGeom>
          <a:noFill/>
        </p:spPr>
        <p:txBody>
          <a:bodyPr wrap="square" lIns="0" tIns="0" rIns="0" bIns="0" rtlCol="0" anchor="t"/>
          <a:lstStyle/>
          <a:p>
            <a:pPr marL="0" indent="0">
              <a:buNone/>
            </a:pPr>
            <a:r>
              <a:rPr lang="en-US" sz="1000" b="1" kern="0" spc="200" dirty="0">
                <a:solidFill>
                  <a:srgbClr val="A85A00"/>
                </a:solidFill>
              </a:rPr>
              <a:t>PROCUREX AGENT</a:t>
            </a:r>
            <a:endParaRPr lang="en-US" sz="1000" dirty="0"/>
          </a:p>
        </p:txBody>
      </p:sp>
      <p:sp>
        <p:nvSpPr>
          <p:cNvPr id="21" name="Agent intro"/>
          <p:cNvSpPr txBox="1"/>
          <p:nvPr/>
        </p:nvSpPr>
        <p:spPr>
          <a:xfrm>
            <a:off x="960120" y="3931920"/>
            <a:ext cx="6126480" cy="274320"/>
          </a:xfrm>
          <a:prstGeom prst="rect">
            <a:avLst/>
          </a:prstGeom>
          <a:noFill/>
        </p:spPr>
        <p:txBody>
          <a:bodyPr wrap="square" lIns="0" tIns="0" rIns="0" bIns="0" rtlCol="0" anchor="t"/>
          <a:lstStyle/>
          <a:p>
            <a:pPr marL="0" indent="0">
              <a:buNone/>
            </a:pPr>
            <a:r>
              <a:rPr lang="en-US" sz="1400" dirty="0">
                <a:solidFill>
                  <a:schemeClr val="tx1"/>
                </a:solidFill>
              </a:rPr>
              <a:t>RFP sent from your Gmail, 3 quotes read. Here is the ranking:</a:t>
            </a:r>
            <a:endParaRPr lang="en-US" sz="1400" dirty="0"/>
          </a:p>
        </p:txBody>
      </p:sp>
      <p:graphicFrame>
        <p:nvGraphicFramePr>
          <p:cNvPr id="22" name="Ranking table"/>
          <p:cNvGraphicFramePr>
            <a:graphicFrameLocks noGrp="1"/>
          </p:cNvGraphicFramePr>
          <p:nvPr/>
        </p:nvGraphicFramePr>
        <p:xfrm>
          <a:off x="960120" y="4279392"/>
          <a:ext cx="6126480" cy="987552"/>
        </p:xfrm>
        <a:graphic>
          <a:graphicData uri="http://schemas.openxmlformats.org/drawingml/2006/table">
            <a:tbl>
              <a:tblPr/>
              <a:tblGrid>
                <a:gridCol w="1097280"/>
                <a:gridCol w="1188720"/>
                <a:gridCol w="3840480"/>
              </a:tblGrid>
              <a:tr h="329184">
                <a:tc>
                  <a:txBody>
                    <a:bodyPr/>
                    <a:lstStyle/>
                    <a:p>
                      <a:pPr marL="0" indent="0">
                        <a:buNone/>
                      </a:pPr>
                      <a:r>
                        <a:rPr lang="en-US" sz="1400" b="1" dirty="0">
                          <a:solidFill>
                            <a:schemeClr val="tx1"/>
                          </a:solidFill>
                        </a:rPr>
                        <a:t>Kumar</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400" b="1" dirty="0">
                          <a:solidFill>
                            <a:schemeClr val="tx1"/>
                          </a:solidFill>
                        </a:rPr>
                        <a:t>₹31.2 L</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400" dirty="0">
                          <a:solidFill>
                            <a:schemeClr val="tx1"/>
                          </a:solidFill>
                        </a:rPr>
                        <a:t>Cheapest, but 45 days out</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r>
              <a:tr h="329184">
                <a:tc>
                  <a:txBody>
                    <a:bodyPr/>
                    <a:lstStyle/>
                    <a:p>
                      <a:pPr marL="0" indent="0">
                        <a:buNone/>
                      </a:pPr>
                      <a:r>
                        <a:rPr lang="en-US" sz="1400" b="1" dirty="0">
                          <a:solidFill>
                            <a:schemeClr val="tx1"/>
                          </a:solidFill>
                        </a:rPr>
                        <a:t>Rapid</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400" b="1" dirty="0">
                          <a:solidFill>
                            <a:schemeClr val="tx1"/>
                          </a:solidFill>
                        </a:rPr>
                        <a:t>₹33.5 L</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400" dirty="0">
                          <a:solidFill>
                            <a:schemeClr val="tx1"/>
                          </a:solidFill>
                        </a:rPr>
                        <a:t>21 days, wants half up front</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r>
              <a:tr h="329184">
                <a:tc>
                  <a:txBody>
                    <a:bodyPr/>
                    <a:lstStyle/>
                    <a:p>
                      <a:pPr marL="0" indent="0">
                        <a:buNone/>
                      </a:pPr>
                      <a:r>
                        <a:rPr lang="en-US" sz="1400" b="1" dirty="0">
                          <a:solidFill>
                            <a:schemeClr val="tx1"/>
                          </a:solidFill>
                        </a:rPr>
                        <a:t>Godrej</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400" b="1" dirty="0">
                          <a:solidFill>
                            <a:schemeClr val="tx1"/>
                          </a:solidFill>
                        </a:rPr>
                        <a:t>₹34.8 L</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c>
                  <a:txBody>
                    <a:bodyPr/>
                    <a:lstStyle/>
                    <a:p>
                      <a:pPr marL="0" indent="0">
                        <a:buNone/>
                      </a:pPr>
                      <a:r>
                        <a:rPr lang="en-US" sz="1400" dirty="0">
                          <a:solidFill>
                            <a:schemeClr val="tx1"/>
                          </a:solidFill>
                        </a:rPr>
                        <a:t>Dearest, longest warranty</a:t>
                      </a:r>
                      <a:endParaRPr lang="en-US" sz="1400" dirty="0"/>
                    </a:p>
                  </a:txBody>
                  <a:tcPr marL="0" marR="45720" marT="0" marB="0" anchor="ctr">
                    <a:lnL w="0" cap="flat" cmpd="sng" algn="ctr">
                      <a:noFill/>
                    </a:lnL>
                    <a:lnR w="0" cap="flat" cmpd="sng" algn="ctr">
                      <a:noFill/>
                    </a:lnR>
                    <a:lnT w="0" cap="flat" cmpd="sng" algn="ctr">
                      <a:noFill/>
                    </a:lnT>
                    <a:lnB w="0" cap="flat" cmpd="sng" algn="ctr">
                      <a:noFill/>
                    </a:lnB>
                  </a:tcPr>
                </a:tc>
              </a:tr>
            </a:tbl>
          </a:graphicData>
        </a:graphic>
      </p:graphicFrame>
      <p:sp>
        <p:nvSpPr>
          <p:cNvPr id="23" name="Result strip"/>
          <p:cNvSpPr/>
          <p:nvPr/>
        </p:nvSpPr>
        <p:spPr>
          <a:xfrm>
            <a:off x="731520" y="5486400"/>
            <a:ext cx="6583680" cy="548640"/>
          </a:xfrm>
          <a:prstGeom prst="roundRect">
            <a:avLst>
              <a:gd name="adj" fmla="val 16667"/>
            </a:avLst>
          </a:prstGeom>
          <a:solidFill>
            <a:schemeClr val="accent5"/>
          </a:solidFill>
        </p:spPr>
      </p:sp>
      <p:sp>
        <p:nvSpPr>
          <p:cNvPr id="24" name="Result text"/>
          <p:cNvSpPr txBox="1"/>
          <p:nvPr/>
        </p:nvSpPr>
        <p:spPr>
          <a:xfrm>
            <a:off x="960120" y="5486400"/>
            <a:ext cx="6217920" cy="548640"/>
          </a:xfrm>
          <a:prstGeom prst="rect">
            <a:avLst/>
          </a:prstGeom>
          <a:noFill/>
        </p:spPr>
        <p:txBody>
          <a:bodyPr wrap="square" lIns="0" tIns="0" rIns="0" bIns="0" rtlCol="0" anchor="ctr"/>
          <a:lstStyle/>
          <a:p>
            <a:pPr marL="0" indent="0">
              <a:buNone/>
            </a:pPr>
            <a:r>
              <a:rPr lang="en-US" sz="1300" b="1" dirty="0">
                <a:solidFill>
                  <a:schemeClr val="accent2"/>
                </a:solidFill>
              </a:rPr>
              <a:t>You raise the delivery weight, ranking flips to Rapid, you approve, PO is issued</a:t>
            </a:r>
            <a:endParaRPr lang="en-US" sz="1300" dirty="0"/>
          </a:p>
        </p:txBody>
      </p:sp>
      <p:sp>
        <p:nvSpPr>
          <p:cNvPr id="25" name="Ask label"/>
          <p:cNvSpPr txBox="1"/>
          <p:nvPr/>
        </p:nvSpPr>
        <p:spPr>
          <a:xfrm>
            <a:off x="7863840" y="2578608"/>
            <a:ext cx="3749040" cy="228600"/>
          </a:xfrm>
          <a:prstGeom prst="rect">
            <a:avLst/>
          </a:prstGeom>
          <a:noFill/>
        </p:spPr>
        <p:txBody>
          <a:bodyPr wrap="square" lIns="0" tIns="0" rIns="0" bIns="0" rtlCol="0" anchor="t"/>
          <a:lstStyle/>
          <a:p>
            <a:pPr marL="0" indent="0">
              <a:buNone/>
            </a:pPr>
            <a:r>
              <a:rPr lang="en-US" sz="1100" b="1" kern="0" spc="200" dirty="0">
                <a:solidFill>
                  <a:srgbClr val="5B6478"/>
                </a:solidFill>
              </a:rPr>
              <a:t>OR JUST ASK IT</a:t>
            </a:r>
            <a:endParaRPr lang="en-US" sz="1100" dirty="0"/>
          </a:p>
        </p:txBody>
      </p:sp>
      <p:sp>
        <p:nvSpPr>
          <p:cNvPr id="26" name="Prompt pill 1"/>
          <p:cNvSpPr/>
          <p:nvPr/>
        </p:nvSpPr>
        <p:spPr>
          <a:xfrm>
            <a:off x="7863840" y="2907792"/>
            <a:ext cx="3776472" cy="365760"/>
          </a:xfrm>
          <a:prstGeom prst="roundRect">
            <a:avLst>
              <a:gd name="adj" fmla="val 50000"/>
            </a:avLst>
          </a:prstGeom>
          <a:solidFill>
            <a:schemeClr val="bg1"/>
          </a:solidFill>
          <a:ln w="12700">
            <a:solidFill>
              <a:srgbClr val="C9D3E6"/>
            </a:solidFill>
            <a:prstDash val="solid"/>
          </a:ln>
        </p:spPr>
      </p:sp>
      <p:sp>
        <p:nvSpPr>
          <p:cNvPr id="27" name="Prompt text"/>
          <p:cNvSpPr txBox="1"/>
          <p:nvPr/>
        </p:nvSpPr>
        <p:spPr>
          <a:xfrm>
            <a:off x="8046720" y="2907792"/>
            <a:ext cx="3474720" cy="365760"/>
          </a:xfrm>
          <a:prstGeom prst="rect">
            <a:avLst/>
          </a:prstGeom>
          <a:noFill/>
        </p:spPr>
        <p:txBody>
          <a:bodyPr wrap="square" lIns="0" tIns="0" rIns="0" bIns="0" rtlCol="0" anchor="ctr"/>
          <a:lstStyle/>
          <a:p>
            <a:pPr marL="0" indent="0">
              <a:buNone/>
            </a:pPr>
            <a:r>
              <a:rPr lang="en-US" sz="1200" i="1" dirty="0">
                <a:solidFill>
                  <a:schemeClr val="tx1"/>
                </a:solidFill>
              </a:rPr>
              <a:t>"What quotes are waiting on me?"</a:t>
            </a:r>
            <a:endParaRPr lang="en-US" sz="1200" dirty="0"/>
          </a:p>
        </p:txBody>
      </p:sp>
      <p:sp>
        <p:nvSpPr>
          <p:cNvPr id="28" name="Prompt pill 2"/>
          <p:cNvSpPr/>
          <p:nvPr/>
        </p:nvSpPr>
        <p:spPr>
          <a:xfrm>
            <a:off x="7863840" y="3364992"/>
            <a:ext cx="3776472" cy="365760"/>
          </a:xfrm>
          <a:prstGeom prst="roundRect">
            <a:avLst>
              <a:gd name="adj" fmla="val 50000"/>
            </a:avLst>
          </a:prstGeom>
          <a:solidFill>
            <a:schemeClr val="bg1"/>
          </a:solidFill>
          <a:ln w="12700">
            <a:solidFill>
              <a:srgbClr val="C9D3E6"/>
            </a:solidFill>
            <a:prstDash val="solid"/>
          </a:ln>
        </p:spPr>
      </p:sp>
      <p:sp>
        <p:nvSpPr>
          <p:cNvPr id="29" name="Prompt text"/>
          <p:cNvSpPr txBox="1"/>
          <p:nvPr/>
        </p:nvSpPr>
        <p:spPr>
          <a:xfrm>
            <a:off x="8046720" y="3364992"/>
            <a:ext cx="3474720" cy="365760"/>
          </a:xfrm>
          <a:prstGeom prst="rect">
            <a:avLst/>
          </a:prstGeom>
          <a:noFill/>
        </p:spPr>
        <p:txBody>
          <a:bodyPr wrap="square" lIns="0" tIns="0" rIns="0" bIns="0" rtlCol="0" anchor="ctr"/>
          <a:lstStyle/>
          <a:p>
            <a:pPr marL="0" indent="0">
              <a:buNone/>
            </a:pPr>
            <a:r>
              <a:rPr lang="en-US" sz="1200" i="1" dirty="0">
                <a:solidFill>
                  <a:schemeClr val="tx1"/>
                </a:solidFill>
              </a:rPr>
              <a:t>"Am I at risk on any MSME payments?"</a:t>
            </a:r>
            <a:endParaRPr lang="en-US" sz="1200" dirty="0"/>
          </a:p>
        </p:txBody>
      </p:sp>
      <p:sp>
        <p:nvSpPr>
          <p:cNvPr id="30" name="Prompt pill 3"/>
          <p:cNvSpPr/>
          <p:nvPr/>
        </p:nvSpPr>
        <p:spPr>
          <a:xfrm>
            <a:off x="7863840" y="3822192"/>
            <a:ext cx="3776472" cy="365760"/>
          </a:xfrm>
          <a:prstGeom prst="roundRect">
            <a:avLst>
              <a:gd name="adj" fmla="val 50000"/>
            </a:avLst>
          </a:prstGeom>
          <a:solidFill>
            <a:schemeClr val="bg1"/>
          </a:solidFill>
          <a:ln w="12700">
            <a:solidFill>
              <a:srgbClr val="C9D3E6"/>
            </a:solidFill>
            <a:prstDash val="solid"/>
          </a:ln>
        </p:spPr>
      </p:sp>
      <p:sp>
        <p:nvSpPr>
          <p:cNvPr id="31" name="Prompt text"/>
          <p:cNvSpPr txBox="1"/>
          <p:nvPr/>
        </p:nvSpPr>
        <p:spPr>
          <a:xfrm>
            <a:off x="8046720" y="3822192"/>
            <a:ext cx="3474720" cy="365760"/>
          </a:xfrm>
          <a:prstGeom prst="rect">
            <a:avLst/>
          </a:prstGeom>
          <a:noFill/>
        </p:spPr>
        <p:txBody>
          <a:bodyPr wrap="square" lIns="0" tIns="0" rIns="0" bIns="0" rtlCol="0" anchor="ctr"/>
          <a:lstStyle/>
          <a:p>
            <a:pPr marL="0" indent="0">
              <a:buNone/>
            </a:pPr>
            <a:r>
              <a:rPr lang="en-US" sz="1200" i="1" dirty="0">
                <a:solidFill>
                  <a:schemeClr val="tx1"/>
                </a:solidFill>
              </a:rPr>
              <a:t>"Draft a counter-offer to Godrej"</a:t>
            </a:r>
            <a:endParaRPr lang="en-US" sz="1200" dirty="0"/>
          </a:p>
        </p:txBody>
      </p:sp>
      <p:sp>
        <p:nvSpPr>
          <p:cNvPr id="32" name="Prompt pill 4"/>
          <p:cNvSpPr/>
          <p:nvPr/>
        </p:nvSpPr>
        <p:spPr>
          <a:xfrm>
            <a:off x="7863840" y="4279392"/>
            <a:ext cx="3776472" cy="365760"/>
          </a:xfrm>
          <a:prstGeom prst="roundRect">
            <a:avLst>
              <a:gd name="adj" fmla="val 50000"/>
            </a:avLst>
          </a:prstGeom>
          <a:solidFill>
            <a:schemeClr val="bg1"/>
          </a:solidFill>
          <a:ln w="12700">
            <a:solidFill>
              <a:srgbClr val="C9D3E6"/>
            </a:solidFill>
            <a:prstDash val="solid"/>
          </a:ln>
        </p:spPr>
      </p:sp>
      <p:sp>
        <p:nvSpPr>
          <p:cNvPr id="33" name="Prompt text"/>
          <p:cNvSpPr txBox="1"/>
          <p:nvPr/>
        </p:nvSpPr>
        <p:spPr>
          <a:xfrm>
            <a:off x="8046720" y="4279392"/>
            <a:ext cx="3474720" cy="365760"/>
          </a:xfrm>
          <a:prstGeom prst="rect">
            <a:avLst/>
          </a:prstGeom>
          <a:noFill/>
        </p:spPr>
        <p:txBody>
          <a:bodyPr wrap="square" lIns="0" tIns="0" rIns="0" bIns="0" rtlCol="0" anchor="ctr"/>
          <a:lstStyle/>
          <a:p>
            <a:pPr marL="0" indent="0">
              <a:buNone/>
            </a:pPr>
            <a:r>
              <a:rPr lang="en-US" sz="1200" i="1" dirty="0">
                <a:solidFill>
                  <a:schemeClr val="tx1"/>
                </a:solidFill>
              </a:rPr>
              <a:t>"Start a reverse auction for the desks"</a:t>
            </a:r>
            <a:endParaRPr lang="en-US" sz="1200" dirty="0"/>
          </a:p>
        </p:txBody>
      </p:sp>
      <p:sp>
        <p:nvSpPr>
          <p:cNvPr id="34" name="Prompt pill 5"/>
          <p:cNvSpPr/>
          <p:nvPr/>
        </p:nvSpPr>
        <p:spPr>
          <a:xfrm>
            <a:off x="7863840" y="4736592"/>
            <a:ext cx="3776472" cy="365760"/>
          </a:xfrm>
          <a:prstGeom prst="roundRect">
            <a:avLst>
              <a:gd name="adj" fmla="val 50000"/>
            </a:avLst>
          </a:prstGeom>
          <a:solidFill>
            <a:schemeClr val="bg1"/>
          </a:solidFill>
          <a:ln w="12700">
            <a:solidFill>
              <a:srgbClr val="C9D3E6"/>
            </a:solidFill>
            <a:prstDash val="solid"/>
          </a:ln>
        </p:spPr>
      </p:sp>
      <p:sp>
        <p:nvSpPr>
          <p:cNvPr id="35" name="Prompt text"/>
          <p:cNvSpPr txBox="1"/>
          <p:nvPr/>
        </p:nvSpPr>
        <p:spPr>
          <a:xfrm>
            <a:off x="8046720" y="4736592"/>
            <a:ext cx="3474720" cy="365760"/>
          </a:xfrm>
          <a:prstGeom prst="rect">
            <a:avLst/>
          </a:prstGeom>
          <a:noFill/>
        </p:spPr>
        <p:txBody>
          <a:bodyPr wrap="square" lIns="0" tIns="0" rIns="0" bIns="0" rtlCol="0" anchor="ctr"/>
          <a:lstStyle/>
          <a:p>
            <a:pPr marL="0" indent="0">
              <a:buNone/>
            </a:pPr>
            <a:r>
              <a:rPr lang="en-US" sz="1200" i="1" dirty="0">
                <a:solidFill>
                  <a:schemeClr val="tx1"/>
                </a:solidFill>
              </a:rPr>
              <a:t>"Record the invoice for PO-9005"</a:t>
            </a:r>
            <a:endParaRPr lang="en-US" sz="1200" dirty="0"/>
          </a:p>
        </p:txBody>
      </p:sp>
      <p:sp>
        <p:nvSpPr>
          <p:cNvPr id="36" name="Prompt pill 6"/>
          <p:cNvSpPr/>
          <p:nvPr/>
        </p:nvSpPr>
        <p:spPr>
          <a:xfrm>
            <a:off x="7863840" y="5193792"/>
            <a:ext cx="3776472" cy="365760"/>
          </a:xfrm>
          <a:prstGeom prst="roundRect">
            <a:avLst>
              <a:gd name="adj" fmla="val 50000"/>
            </a:avLst>
          </a:prstGeom>
          <a:solidFill>
            <a:schemeClr val="bg1"/>
          </a:solidFill>
          <a:ln w="12700">
            <a:solidFill>
              <a:srgbClr val="C9D3E6"/>
            </a:solidFill>
            <a:prstDash val="solid"/>
          </a:ln>
        </p:spPr>
      </p:sp>
      <p:sp>
        <p:nvSpPr>
          <p:cNvPr id="37" name="Prompt text"/>
          <p:cNvSpPr txBox="1"/>
          <p:nvPr/>
        </p:nvSpPr>
        <p:spPr>
          <a:xfrm>
            <a:off x="8046720" y="5193792"/>
            <a:ext cx="3474720" cy="365760"/>
          </a:xfrm>
          <a:prstGeom prst="rect">
            <a:avLst/>
          </a:prstGeom>
          <a:noFill/>
        </p:spPr>
        <p:txBody>
          <a:bodyPr wrap="square" lIns="0" tIns="0" rIns="0" bIns="0" rtlCol="0" anchor="ctr"/>
          <a:lstStyle/>
          <a:p>
            <a:pPr marL="0" indent="0">
              <a:buNone/>
            </a:pPr>
            <a:r>
              <a:rPr lang="en-US" sz="1200" i="1" dirty="0">
                <a:solidFill>
                  <a:schemeClr val="tx1"/>
                </a:solidFill>
              </a:rPr>
              <a:t>"Add these 12 vendors"</a:t>
            </a:r>
            <a:endParaRPr lang="en-US" sz="1200" dirty="0"/>
          </a:p>
        </p:txBody>
      </p:sp>
      <p:sp>
        <p:nvSpPr>
          <p:cNvPr id="38" name="Prompt pill 7"/>
          <p:cNvSpPr/>
          <p:nvPr/>
        </p:nvSpPr>
        <p:spPr>
          <a:xfrm>
            <a:off x="7863840" y="5650992"/>
            <a:ext cx="3776472" cy="365760"/>
          </a:xfrm>
          <a:prstGeom prst="roundRect">
            <a:avLst>
              <a:gd name="adj" fmla="val 50000"/>
            </a:avLst>
          </a:prstGeom>
          <a:solidFill>
            <a:schemeClr val="bg1"/>
          </a:solidFill>
          <a:ln w="12700">
            <a:solidFill>
              <a:srgbClr val="C9D3E6"/>
            </a:solidFill>
            <a:prstDash val="solid"/>
          </a:ln>
        </p:spPr>
      </p:sp>
      <p:sp>
        <p:nvSpPr>
          <p:cNvPr id="39" name="Prompt text"/>
          <p:cNvSpPr txBox="1"/>
          <p:nvPr/>
        </p:nvSpPr>
        <p:spPr>
          <a:xfrm>
            <a:off x="8046720" y="5650992"/>
            <a:ext cx="3474720" cy="365760"/>
          </a:xfrm>
          <a:prstGeom prst="rect">
            <a:avLst/>
          </a:prstGeom>
          <a:noFill/>
        </p:spPr>
        <p:txBody>
          <a:bodyPr wrap="square" lIns="0" tIns="0" rIns="0" bIns="0" rtlCol="0" anchor="ctr"/>
          <a:lstStyle/>
          <a:p>
            <a:pPr marL="0" indent="0">
              <a:buNone/>
            </a:pPr>
            <a:r>
              <a:rPr lang="en-US" sz="1200" i="1" dirty="0">
                <a:solidFill>
                  <a:schemeClr val="tx1"/>
                </a:solidFill>
              </a:rPr>
              <a:t>"Generate this month's report"</a:t>
            </a:r>
            <a:endParaRPr lang="en-US" sz="1200" dirty="0"/>
          </a:p>
        </p:txBody>
      </p:sp>
      <p:sp>
        <p:nvSpPr>
          <p:cNvPr id="40"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SYSTEM ARCHITECTURE</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The agent decides. Plain code computes.</a:t>
            </a:r>
            <a:endParaRPr lang="en-US" sz="3400" dirty="0"/>
          </a:p>
        </p:txBody>
      </p:sp>
      <p:pic>
        <p:nvPicPr>
          <p:cNvPr id="4" name="Image 0" descr="Architecture: buyer chat box, LangGraph and Gemini agent, 17 tools, memory and retrieval, a trust boundary of plain code for scoring, 43B(h), GSTIN and parse confidence, and external systems."/>
          <p:cNvPicPr>
            <a:picLocks noChangeAspect="1"/>
          </p:cNvPicPr>
          <p:nvPr/>
        </p:nvPicPr>
        <p:blipFill>
          <a:blip r:embed="rId1"/>
          <a:stretch>
            <a:fillRect/>
          </a:stretch>
        </p:blipFill>
        <p:spPr>
          <a:xfrm>
            <a:off x="457200" y="1444752"/>
            <a:ext cx="11274552" cy="4885639"/>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HOW IT RUNS</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One request, end to end</a:t>
            </a:r>
            <a:endParaRPr lang="en-US" sz="3400" dirty="0"/>
          </a:p>
        </p:txBody>
      </p:sp>
      <p:pic>
        <p:nvPicPr>
          <p:cNvPr id="4" name="Image 0" descr="Sequence: buyer request, RFP sent with approval, quotes read, scored by plain code, ranking approved, PO issued and payment clock started."/>
          <p:cNvPicPr>
            <a:picLocks noChangeAspect="1"/>
          </p:cNvPicPr>
          <p:nvPr/>
        </p:nvPicPr>
        <p:blipFill>
          <a:blip r:embed="rId1"/>
          <a:stretch>
            <a:fillRect/>
          </a:stretch>
        </p:blipFill>
        <p:spPr>
          <a:xfrm>
            <a:off x="457200" y="1444752"/>
            <a:ext cx="11274552" cy="4885639"/>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AGENTIC BEHAVIOUR</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It sends the mail and reads the reply</a:t>
            </a:r>
            <a:endParaRPr lang="en-US" sz="3400" dirty="0"/>
          </a:p>
        </p:txBody>
      </p:sp>
      <p:sp>
        <p:nvSpPr>
          <p:cNvPr id="4" name="Capability card 1"/>
          <p:cNvSpPr/>
          <p:nvPr/>
        </p:nvSpPr>
        <p:spPr>
          <a:xfrm>
            <a:off x="548640" y="1645920"/>
            <a:ext cx="3566160" cy="2148840"/>
          </a:xfrm>
          <a:prstGeom prst="roundRect">
            <a:avLst>
              <a:gd name="adj" fmla="val 5106"/>
            </a:avLst>
          </a:prstGeom>
          <a:solidFill>
            <a:schemeClr val="bg2"/>
          </a:solidFill>
        </p:spPr>
      </p:sp>
      <p:sp>
        <p:nvSpPr>
          <p:cNvPr id="5" name="Icon circle"/>
          <p:cNvSpPr/>
          <p:nvPr/>
        </p:nvSpPr>
        <p:spPr>
          <a:xfrm>
            <a:off x="777240" y="1874520"/>
            <a:ext cx="502920" cy="502920"/>
          </a:xfrm>
          <a:prstGeom prst="ellipse">
            <a:avLst/>
          </a:prstGeom>
          <a:solidFill>
            <a:schemeClr val="tx1"/>
          </a:solidFill>
        </p:spPr>
      </p:sp>
      <p:pic>
        <p:nvPicPr>
          <p:cNvPr id="6" name="Image 0" descr="PLANNING"/>
          <p:cNvPicPr>
            <a:picLocks noChangeAspect="1"/>
          </p:cNvPicPr>
          <p:nvPr/>
        </p:nvPicPr>
        <p:blipFill>
          <a:blip r:embed="rId1"/>
          <a:stretch>
            <a:fillRect/>
          </a:stretch>
        </p:blipFill>
        <p:spPr>
          <a:xfrm>
            <a:off x="909828" y="2007108"/>
            <a:ext cx="237744" cy="237744"/>
          </a:xfrm>
          <a:prstGeom prst="rect">
            <a:avLst/>
          </a:prstGeom>
        </p:spPr>
      </p:pic>
      <p:sp>
        <p:nvSpPr>
          <p:cNvPr id="7" name="Capability tag"/>
          <p:cNvSpPr txBox="1"/>
          <p:nvPr/>
        </p:nvSpPr>
        <p:spPr>
          <a:xfrm>
            <a:off x="1417320" y="1920240"/>
            <a:ext cx="2560320" cy="228600"/>
          </a:xfrm>
          <a:prstGeom prst="rect">
            <a:avLst/>
          </a:prstGeom>
          <a:noFill/>
        </p:spPr>
        <p:txBody>
          <a:bodyPr wrap="square" lIns="0" tIns="0" rIns="0" bIns="0" rtlCol="0" anchor="t"/>
          <a:lstStyle/>
          <a:p>
            <a:pPr marL="0" indent="0">
              <a:buNone/>
            </a:pPr>
            <a:r>
              <a:rPr lang="en-US" sz="1000" b="1" kern="0" spc="200" dirty="0">
                <a:solidFill>
                  <a:srgbClr val="A85A00"/>
                </a:solidFill>
              </a:rPr>
              <a:t>PLANNING</a:t>
            </a:r>
            <a:endParaRPr lang="en-US" sz="1000" dirty="0"/>
          </a:p>
        </p:txBody>
      </p:sp>
      <p:sp>
        <p:nvSpPr>
          <p:cNvPr id="8" name="Capability heading"/>
          <p:cNvSpPr txBox="1"/>
          <p:nvPr/>
        </p:nvSpPr>
        <p:spPr>
          <a:xfrm>
            <a:off x="777240" y="2514600"/>
            <a:ext cx="3108960" cy="365760"/>
          </a:xfrm>
          <a:prstGeom prst="rect">
            <a:avLst/>
          </a:prstGeom>
          <a:noFill/>
        </p:spPr>
        <p:txBody>
          <a:bodyPr wrap="square" lIns="0" tIns="0" rIns="0" bIns="0" rtlCol="0" anchor="t"/>
          <a:lstStyle/>
          <a:p>
            <a:pPr marL="0" indent="0">
              <a:buNone/>
            </a:pPr>
            <a:r>
              <a:rPr lang="en-US" sz="1700" b="1" dirty="0">
                <a:solidFill>
                  <a:schemeClr val="tx1"/>
                </a:solidFill>
              </a:rPr>
              <a:t>One sentence, one plan</a:t>
            </a:r>
            <a:endParaRPr lang="en-US" sz="1700" dirty="0"/>
          </a:p>
        </p:txBody>
      </p:sp>
      <p:sp>
        <p:nvSpPr>
          <p:cNvPr id="9" name="Capability text"/>
          <p:cNvSpPr txBox="1"/>
          <p:nvPr/>
        </p:nvSpPr>
        <p:spPr>
          <a:xfrm>
            <a:off x="777240" y="2926080"/>
            <a:ext cx="3108960" cy="777240"/>
          </a:xfrm>
          <a:prstGeom prst="rect">
            <a:avLst/>
          </a:prstGeom>
          <a:noFill/>
        </p:spPr>
        <p:txBody>
          <a:bodyPr wrap="square" lIns="0" tIns="0" rIns="0" bIns="0" rtlCol="0" anchor="t"/>
          <a:lstStyle/>
          <a:p>
            <a:pPr marL="0" indent="0">
              <a:buNone/>
            </a:pPr>
            <a:r>
              <a:rPr lang="en-US" sz="1400" dirty="0">
                <a:solidFill>
                  <a:schemeClr val="tx1"/>
                </a:solidFill>
              </a:rPr>
              <a:t>Resolve vendors, draft, number, send. The plan is rebuilt after every result.</a:t>
            </a:r>
            <a:endParaRPr lang="en-US" sz="1400" dirty="0"/>
          </a:p>
        </p:txBody>
      </p:sp>
      <p:sp>
        <p:nvSpPr>
          <p:cNvPr id="10" name="Capability card 2"/>
          <p:cNvSpPr/>
          <p:nvPr/>
        </p:nvSpPr>
        <p:spPr>
          <a:xfrm>
            <a:off x="4311396" y="1645920"/>
            <a:ext cx="3566160" cy="2148840"/>
          </a:xfrm>
          <a:prstGeom prst="roundRect">
            <a:avLst>
              <a:gd name="adj" fmla="val 5106"/>
            </a:avLst>
          </a:prstGeom>
          <a:solidFill>
            <a:schemeClr val="bg2"/>
          </a:solidFill>
        </p:spPr>
      </p:sp>
      <p:sp>
        <p:nvSpPr>
          <p:cNvPr id="11" name="Icon circle"/>
          <p:cNvSpPr/>
          <p:nvPr/>
        </p:nvSpPr>
        <p:spPr>
          <a:xfrm>
            <a:off x="4539996" y="1874520"/>
            <a:ext cx="502920" cy="502920"/>
          </a:xfrm>
          <a:prstGeom prst="ellipse">
            <a:avLst/>
          </a:prstGeom>
          <a:solidFill>
            <a:schemeClr val="tx1"/>
          </a:solidFill>
        </p:spPr>
      </p:sp>
      <p:pic>
        <p:nvPicPr>
          <p:cNvPr id="12" name="Image 1" descr="DECISION-MAKING"/>
          <p:cNvPicPr>
            <a:picLocks noChangeAspect="1"/>
          </p:cNvPicPr>
          <p:nvPr/>
        </p:nvPicPr>
        <p:blipFill>
          <a:blip r:embed="rId2"/>
          <a:stretch>
            <a:fillRect/>
          </a:stretch>
        </p:blipFill>
        <p:spPr>
          <a:xfrm>
            <a:off x="4672584" y="2007108"/>
            <a:ext cx="237744" cy="237744"/>
          </a:xfrm>
          <a:prstGeom prst="rect">
            <a:avLst/>
          </a:prstGeom>
        </p:spPr>
      </p:pic>
      <p:sp>
        <p:nvSpPr>
          <p:cNvPr id="13" name="Capability tag"/>
          <p:cNvSpPr txBox="1"/>
          <p:nvPr/>
        </p:nvSpPr>
        <p:spPr>
          <a:xfrm>
            <a:off x="5180076" y="1920240"/>
            <a:ext cx="2560320" cy="228600"/>
          </a:xfrm>
          <a:prstGeom prst="rect">
            <a:avLst/>
          </a:prstGeom>
          <a:noFill/>
        </p:spPr>
        <p:txBody>
          <a:bodyPr wrap="square" lIns="0" tIns="0" rIns="0" bIns="0" rtlCol="0" anchor="t"/>
          <a:lstStyle/>
          <a:p>
            <a:pPr marL="0" indent="0">
              <a:buNone/>
            </a:pPr>
            <a:r>
              <a:rPr lang="en-US" sz="1000" b="1" kern="0" spc="200" dirty="0">
                <a:solidFill>
                  <a:srgbClr val="A85A00"/>
                </a:solidFill>
              </a:rPr>
              <a:t>DECISION-MAKING</a:t>
            </a:r>
            <a:endParaRPr lang="en-US" sz="1000" dirty="0"/>
          </a:p>
        </p:txBody>
      </p:sp>
      <p:sp>
        <p:nvSpPr>
          <p:cNvPr id="14" name="Capability heading"/>
          <p:cNvSpPr txBox="1"/>
          <p:nvPr/>
        </p:nvSpPr>
        <p:spPr>
          <a:xfrm>
            <a:off x="4539996" y="2514600"/>
            <a:ext cx="3108960" cy="365760"/>
          </a:xfrm>
          <a:prstGeom prst="rect">
            <a:avLst/>
          </a:prstGeom>
          <a:noFill/>
        </p:spPr>
        <p:txBody>
          <a:bodyPr wrap="square" lIns="0" tIns="0" rIns="0" bIns="0" rtlCol="0" anchor="t"/>
          <a:lstStyle/>
          <a:p>
            <a:pPr marL="0" indent="0">
              <a:buNone/>
            </a:pPr>
            <a:r>
              <a:rPr lang="en-US" sz="1700" b="1" dirty="0">
                <a:solidFill>
                  <a:schemeClr val="tx1"/>
                </a:solidFill>
              </a:rPr>
              <a:t>It knows when to stop</a:t>
            </a:r>
            <a:endParaRPr lang="en-US" sz="1700" dirty="0"/>
          </a:p>
        </p:txBody>
      </p:sp>
      <p:sp>
        <p:nvSpPr>
          <p:cNvPr id="15" name="Capability text"/>
          <p:cNvSpPr txBox="1"/>
          <p:nvPr/>
        </p:nvSpPr>
        <p:spPr>
          <a:xfrm>
            <a:off x="4539996" y="2926080"/>
            <a:ext cx="3108960" cy="777240"/>
          </a:xfrm>
          <a:prstGeom prst="rect">
            <a:avLst/>
          </a:prstGeom>
          <a:noFill/>
        </p:spPr>
        <p:txBody>
          <a:bodyPr wrap="square" lIns="0" tIns="0" rIns="0" bIns="0" rtlCol="0" anchor="t"/>
          <a:lstStyle/>
          <a:p>
            <a:pPr marL="0" indent="0">
              <a:buNone/>
            </a:pPr>
            <a:r>
              <a:rPr lang="en-US" sz="1400" dirty="0">
                <a:solidFill>
                  <a:schemeClr val="tx1"/>
                </a:solidFill>
              </a:rPr>
              <a:t>Picks tools and vendors. Pauses for approval before send, negotiate and award.</a:t>
            </a:r>
            <a:endParaRPr lang="en-US" sz="1400" dirty="0"/>
          </a:p>
        </p:txBody>
      </p:sp>
      <p:sp>
        <p:nvSpPr>
          <p:cNvPr id="16" name="Capability card 3"/>
          <p:cNvSpPr/>
          <p:nvPr/>
        </p:nvSpPr>
        <p:spPr>
          <a:xfrm>
            <a:off x="8074152" y="1645920"/>
            <a:ext cx="3566160" cy="2148840"/>
          </a:xfrm>
          <a:prstGeom prst="roundRect">
            <a:avLst>
              <a:gd name="adj" fmla="val 5106"/>
            </a:avLst>
          </a:prstGeom>
          <a:solidFill>
            <a:schemeClr val="bg2"/>
          </a:solidFill>
        </p:spPr>
      </p:sp>
      <p:sp>
        <p:nvSpPr>
          <p:cNvPr id="17" name="Icon circle"/>
          <p:cNvSpPr/>
          <p:nvPr/>
        </p:nvSpPr>
        <p:spPr>
          <a:xfrm>
            <a:off x="8302752" y="1874520"/>
            <a:ext cx="502920" cy="502920"/>
          </a:xfrm>
          <a:prstGeom prst="ellipse">
            <a:avLst/>
          </a:prstGeom>
          <a:solidFill>
            <a:schemeClr val="tx1"/>
          </a:solidFill>
        </p:spPr>
      </p:sp>
      <p:pic>
        <p:nvPicPr>
          <p:cNvPr id="18" name="Image 2" descr="MULTI-STEP"/>
          <p:cNvPicPr>
            <a:picLocks noChangeAspect="1"/>
          </p:cNvPicPr>
          <p:nvPr/>
        </p:nvPicPr>
        <p:blipFill>
          <a:blip r:embed="rId3"/>
          <a:stretch>
            <a:fillRect/>
          </a:stretch>
        </p:blipFill>
        <p:spPr>
          <a:xfrm>
            <a:off x="8435340" y="2007108"/>
            <a:ext cx="237744" cy="237744"/>
          </a:xfrm>
          <a:prstGeom prst="rect">
            <a:avLst/>
          </a:prstGeom>
        </p:spPr>
      </p:pic>
      <p:sp>
        <p:nvSpPr>
          <p:cNvPr id="19" name="Capability tag"/>
          <p:cNvSpPr txBox="1"/>
          <p:nvPr/>
        </p:nvSpPr>
        <p:spPr>
          <a:xfrm>
            <a:off x="8942832" y="1920240"/>
            <a:ext cx="2560320" cy="228600"/>
          </a:xfrm>
          <a:prstGeom prst="rect">
            <a:avLst/>
          </a:prstGeom>
          <a:noFill/>
        </p:spPr>
        <p:txBody>
          <a:bodyPr wrap="square" lIns="0" tIns="0" rIns="0" bIns="0" rtlCol="0" anchor="t"/>
          <a:lstStyle/>
          <a:p>
            <a:pPr marL="0" indent="0">
              <a:buNone/>
            </a:pPr>
            <a:r>
              <a:rPr lang="en-US" sz="1000" b="1" kern="0" spc="200" dirty="0">
                <a:solidFill>
                  <a:srgbClr val="A85A00"/>
                </a:solidFill>
              </a:rPr>
              <a:t>MULTI-STEP</a:t>
            </a:r>
            <a:endParaRPr lang="en-US" sz="1000" dirty="0"/>
          </a:p>
        </p:txBody>
      </p:sp>
      <p:sp>
        <p:nvSpPr>
          <p:cNvPr id="20" name="Capability heading"/>
          <p:cNvSpPr txBox="1"/>
          <p:nvPr/>
        </p:nvSpPr>
        <p:spPr>
          <a:xfrm>
            <a:off x="8302752" y="2514600"/>
            <a:ext cx="3108960" cy="365760"/>
          </a:xfrm>
          <a:prstGeom prst="rect">
            <a:avLst/>
          </a:prstGeom>
          <a:noFill/>
        </p:spPr>
        <p:txBody>
          <a:bodyPr wrap="square" lIns="0" tIns="0" rIns="0" bIns="0" rtlCol="0" anchor="t"/>
          <a:lstStyle/>
          <a:p>
            <a:pPr marL="0" indent="0">
              <a:buNone/>
            </a:pPr>
            <a:r>
              <a:rPr lang="en-US" sz="1700" b="1" dirty="0">
                <a:solidFill>
                  <a:schemeClr val="tx1"/>
                </a:solidFill>
              </a:rPr>
              <a:t>Works across days</a:t>
            </a:r>
            <a:endParaRPr lang="en-US" sz="1700" dirty="0"/>
          </a:p>
        </p:txBody>
      </p:sp>
      <p:sp>
        <p:nvSpPr>
          <p:cNvPr id="21" name="Capability text"/>
          <p:cNvSpPr txBox="1"/>
          <p:nvPr/>
        </p:nvSpPr>
        <p:spPr>
          <a:xfrm>
            <a:off x="8302752" y="2926080"/>
            <a:ext cx="3108960" cy="777240"/>
          </a:xfrm>
          <a:prstGeom prst="rect">
            <a:avLst/>
          </a:prstGeom>
          <a:noFill/>
        </p:spPr>
        <p:txBody>
          <a:bodyPr wrap="square" lIns="0" tIns="0" rIns="0" bIns="0" rtlCol="0" anchor="t"/>
          <a:lstStyle/>
          <a:p>
            <a:pPr marL="0" indent="0">
              <a:buNone/>
            </a:pPr>
            <a:r>
              <a:rPr lang="en-US" sz="1400" dirty="0">
                <a:solidFill>
                  <a:schemeClr val="tx1"/>
                </a:solidFill>
              </a:rPr>
              <a:t>RFP on Monday, quotes on Thursday. State lives in Postgres, so a restart loses nothing.</a:t>
            </a:r>
            <a:endParaRPr lang="en-US" sz="1400" dirty="0"/>
          </a:p>
        </p:txBody>
      </p:sp>
      <p:sp>
        <p:nvSpPr>
          <p:cNvPr id="22" name="Capability card 4"/>
          <p:cNvSpPr/>
          <p:nvPr/>
        </p:nvSpPr>
        <p:spPr>
          <a:xfrm>
            <a:off x="548640" y="3977640"/>
            <a:ext cx="3566160" cy="2148840"/>
          </a:xfrm>
          <a:prstGeom prst="roundRect">
            <a:avLst>
              <a:gd name="adj" fmla="val 5106"/>
            </a:avLst>
          </a:prstGeom>
          <a:solidFill>
            <a:schemeClr val="bg2"/>
          </a:solidFill>
        </p:spPr>
      </p:sp>
      <p:sp>
        <p:nvSpPr>
          <p:cNvPr id="23" name="Icon circle"/>
          <p:cNvSpPr/>
          <p:nvPr/>
        </p:nvSpPr>
        <p:spPr>
          <a:xfrm>
            <a:off x="777240" y="4206240"/>
            <a:ext cx="502920" cy="502920"/>
          </a:xfrm>
          <a:prstGeom prst="ellipse">
            <a:avLst/>
          </a:prstGeom>
          <a:solidFill>
            <a:schemeClr val="tx1"/>
          </a:solidFill>
        </p:spPr>
      </p:sp>
      <p:pic>
        <p:nvPicPr>
          <p:cNvPr id="24" name="Image 3" descr="TOOL USE"/>
          <p:cNvPicPr>
            <a:picLocks noChangeAspect="1"/>
          </p:cNvPicPr>
          <p:nvPr/>
        </p:nvPicPr>
        <p:blipFill>
          <a:blip r:embed="rId4"/>
          <a:stretch>
            <a:fillRect/>
          </a:stretch>
        </p:blipFill>
        <p:spPr>
          <a:xfrm>
            <a:off x="909828" y="4338828"/>
            <a:ext cx="237744" cy="237744"/>
          </a:xfrm>
          <a:prstGeom prst="rect">
            <a:avLst/>
          </a:prstGeom>
        </p:spPr>
      </p:pic>
      <p:sp>
        <p:nvSpPr>
          <p:cNvPr id="25" name="Capability tag"/>
          <p:cNvSpPr txBox="1"/>
          <p:nvPr/>
        </p:nvSpPr>
        <p:spPr>
          <a:xfrm>
            <a:off x="1417320" y="4251960"/>
            <a:ext cx="2560320" cy="228600"/>
          </a:xfrm>
          <a:prstGeom prst="rect">
            <a:avLst/>
          </a:prstGeom>
          <a:noFill/>
        </p:spPr>
        <p:txBody>
          <a:bodyPr wrap="square" lIns="0" tIns="0" rIns="0" bIns="0" rtlCol="0" anchor="t"/>
          <a:lstStyle/>
          <a:p>
            <a:pPr marL="0" indent="0">
              <a:buNone/>
            </a:pPr>
            <a:r>
              <a:rPr lang="en-US" sz="1000" b="1" kern="0" spc="200" dirty="0">
                <a:solidFill>
                  <a:srgbClr val="A85A00"/>
                </a:solidFill>
              </a:rPr>
              <a:t>TOOL USE</a:t>
            </a:r>
            <a:endParaRPr lang="en-US" sz="1000" dirty="0"/>
          </a:p>
        </p:txBody>
      </p:sp>
      <p:sp>
        <p:nvSpPr>
          <p:cNvPr id="26" name="Capability heading"/>
          <p:cNvSpPr txBox="1"/>
          <p:nvPr/>
        </p:nvSpPr>
        <p:spPr>
          <a:xfrm>
            <a:off x="777240" y="4846320"/>
            <a:ext cx="3108960" cy="365760"/>
          </a:xfrm>
          <a:prstGeom prst="rect">
            <a:avLst/>
          </a:prstGeom>
          <a:noFill/>
        </p:spPr>
        <p:txBody>
          <a:bodyPr wrap="square" lIns="0" tIns="0" rIns="0" bIns="0" rtlCol="0" anchor="t"/>
          <a:lstStyle/>
          <a:p>
            <a:pPr marL="0" indent="0">
              <a:buNone/>
            </a:pPr>
            <a:r>
              <a:rPr lang="en-US" sz="1700" b="1" dirty="0">
                <a:solidFill>
                  <a:schemeClr val="tx1"/>
                </a:solidFill>
              </a:rPr>
              <a:t>17 tools, typed contracts</a:t>
            </a:r>
            <a:endParaRPr lang="en-US" sz="1700" dirty="0"/>
          </a:p>
        </p:txBody>
      </p:sp>
      <p:sp>
        <p:nvSpPr>
          <p:cNvPr id="27" name="Capability text"/>
          <p:cNvSpPr txBox="1"/>
          <p:nvPr/>
        </p:nvSpPr>
        <p:spPr>
          <a:xfrm>
            <a:off x="777240" y="5257800"/>
            <a:ext cx="3108960" cy="777240"/>
          </a:xfrm>
          <a:prstGeom prst="rect">
            <a:avLst/>
          </a:prstGeom>
          <a:noFill/>
        </p:spPr>
        <p:txBody>
          <a:bodyPr wrap="square" lIns="0" tIns="0" rIns="0" bIns="0" rtlCol="0" anchor="t"/>
          <a:lstStyle/>
          <a:p>
            <a:pPr marL="0" indent="0">
              <a:buNone/>
            </a:pPr>
            <a:r>
              <a:rPr lang="en-US" sz="1400" dirty="0">
                <a:solidFill>
                  <a:schemeClr val="tx1"/>
                </a:solidFill>
              </a:rPr>
              <a:t>Bad arguments are refused before they reach code. Each result shapes the next step.</a:t>
            </a:r>
            <a:endParaRPr lang="en-US" sz="1400" dirty="0"/>
          </a:p>
        </p:txBody>
      </p:sp>
      <p:sp>
        <p:nvSpPr>
          <p:cNvPr id="28" name="Capability card 5"/>
          <p:cNvSpPr/>
          <p:nvPr/>
        </p:nvSpPr>
        <p:spPr>
          <a:xfrm>
            <a:off x="4311396" y="3977640"/>
            <a:ext cx="3566160" cy="2148840"/>
          </a:xfrm>
          <a:prstGeom prst="roundRect">
            <a:avLst>
              <a:gd name="adj" fmla="val 5106"/>
            </a:avLst>
          </a:prstGeom>
          <a:solidFill>
            <a:schemeClr val="bg2"/>
          </a:solidFill>
        </p:spPr>
      </p:sp>
      <p:sp>
        <p:nvSpPr>
          <p:cNvPr id="29" name="Icon circle"/>
          <p:cNvSpPr/>
          <p:nvPr/>
        </p:nvSpPr>
        <p:spPr>
          <a:xfrm>
            <a:off x="4539996" y="4206240"/>
            <a:ext cx="502920" cy="502920"/>
          </a:xfrm>
          <a:prstGeom prst="ellipse">
            <a:avLst/>
          </a:prstGeom>
          <a:solidFill>
            <a:schemeClr val="tx1"/>
          </a:solidFill>
        </p:spPr>
      </p:sp>
      <p:pic>
        <p:nvPicPr>
          <p:cNvPr id="30" name="Image 4" descr="EVALUATION"/>
          <p:cNvPicPr>
            <a:picLocks noChangeAspect="1"/>
          </p:cNvPicPr>
          <p:nvPr/>
        </p:nvPicPr>
        <p:blipFill>
          <a:blip r:embed="rId5"/>
          <a:stretch>
            <a:fillRect/>
          </a:stretch>
        </p:blipFill>
        <p:spPr>
          <a:xfrm>
            <a:off x="4672584" y="4338828"/>
            <a:ext cx="237744" cy="237744"/>
          </a:xfrm>
          <a:prstGeom prst="rect">
            <a:avLst/>
          </a:prstGeom>
        </p:spPr>
      </p:pic>
      <p:sp>
        <p:nvSpPr>
          <p:cNvPr id="31" name="Capability tag"/>
          <p:cNvSpPr txBox="1"/>
          <p:nvPr/>
        </p:nvSpPr>
        <p:spPr>
          <a:xfrm>
            <a:off x="5180076" y="4251960"/>
            <a:ext cx="2560320" cy="228600"/>
          </a:xfrm>
          <a:prstGeom prst="rect">
            <a:avLst/>
          </a:prstGeom>
          <a:noFill/>
        </p:spPr>
        <p:txBody>
          <a:bodyPr wrap="square" lIns="0" tIns="0" rIns="0" bIns="0" rtlCol="0" anchor="t"/>
          <a:lstStyle/>
          <a:p>
            <a:pPr marL="0" indent="0">
              <a:buNone/>
            </a:pPr>
            <a:r>
              <a:rPr lang="en-US" sz="1000" b="1" kern="0" spc="200" dirty="0">
                <a:solidFill>
                  <a:srgbClr val="A85A00"/>
                </a:solidFill>
              </a:rPr>
              <a:t>EVALUATION</a:t>
            </a:r>
            <a:endParaRPr lang="en-US" sz="1000" dirty="0"/>
          </a:p>
        </p:txBody>
      </p:sp>
      <p:sp>
        <p:nvSpPr>
          <p:cNvPr id="32" name="Capability heading"/>
          <p:cNvSpPr txBox="1"/>
          <p:nvPr/>
        </p:nvSpPr>
        <p:spPr>
          <a:xfrm>
            <a:off x="4539996" y="4846320"/>
            <a:ext cx="3108960" cy="365760"/>
          </a:xfrm>
          <a:prstGeom prst="rect">
            <a:avLst/>
          </a:prstGeom>
          <a:noFill/>
        </p:spPr>
        <p:txBody>
          <a:bodyPr wrap="square" lIns="0" tIns="0" rIns="0" bIns="0" rtlCol="0" anchor="t"/>
          <a:lstStyle/>
          <a:p>
            <a:pPr marL="0" indent="0">
              <a:buNone/>
            </a:pPr>
            <a:r>
              <a:rPr lang="en-US" sz="1700" b="1" dirty="0">
                <a:solidFill>
                  <a:schemeClr val="tx1"/>
                </a:solidFill>
              </a:rPr>
              <a:t>Plain code does the maths</a:t>
            </a:r>
            <a:endParaRPr lang="en-US" sz="1700" dirty="0"/>
          </a:p>
        </p:txBody>
      </p:sp>
      <p:sp>
        <p:nvSpPr>
          <p:cNvPr id="33" name="Capability text"/>
          <p:cNvSpPr txBox="1"/>
          <p:nvPr/>
        </p:nvSpPr>
        <p:spPr>
          <a:xfrm>
            <a:off x="4539996" y="5257800"/>
            <a:ext cx="3108960" cy="777240"/>
          </a:xfrm>
          <a:prstGeom prst="rect">
            <a:avLst/>
          </a:prstGeom>
          <a:noFill/>
        </p:spPr>
        <p:txBody>
          <a:bodyPr wrap="square" lIns="0" tIns="0" rIns="0" bIns="0" rtlCol="0" anchor="t"/>
          <a:lstStyle/>
          <a:p>
            <a:pPr marL="0" indent="0">
              <a:buNone/>
            </a:pPr>
            <a:r>
              <a:rPr lang="en-US" sz="1400" dirty="0">
                <a:solidFill>
                  <a:schemeClr val="tx1"/>
                </a:solidFill>
              </a:rPr>
              <a:t>Scores, deadlines and GSTIN checks are plain code, backed by 37 automated checks.</a:t>
            </a:r>
            <a:endParaRPr lang="en-US" sz="1400" dirty="0"/>
          </a:p>
        </p:txBody>
      </p:sp>
      <p:sp>
        <p:nvSpPr>
          <p:cNvPr id="34" name="Capability card 6"/>
          <p:cNvSpPr/>
          <p:nvPr/>
        </p:nvSpPr>
        <p:spPr>
          <a:xfrm>
            <a:off x="8074152" y="3977640"/>
            <a:ext cx="3566160" cy="2148840"/>
          </a:xfrm>
          <a:prstGeom prst="roundRect">
            <a:avLst>
              <a:gd name="adj" fmla="val 5106"/>
            </a:avLst>
          </a:prstGeom>
          <a:solidFill>
            <a:schemeClr val="bg2"/>
          </a:solidFill>
        </p:spPr>
      </p:sp>
      <p:sp>
        <p:nvSpPr>
          <p:cNvPr id="35" name="Icon circle"/>
          <p:cNvSpPr/>
          <p:nvPr/>
        </p:nvSpPr>
        <p:spPr>
          <a:xfrm>
            <a:off x="8302752" y="4206240"/>
            <a:ext cx="502920" cy="502920"/>
          </a:xfrm>
          <a:prstGeom prst="ellipse">
            <a:avLst/>
          </a:prstGeom>
          <a:solidFill>
            <a:schemeClr val="tx1"/>
          </a:solidFill>
        </p:spPr>
      </p:sp>
      <p:pic>
        <p:nvPicPr>
          <p:cNvPr id="36" name="Image 5" descr="ADAPTATION"/>
          <p:cNvPicPr>
            <a:picLocks noChangeAspect="1"/>
          </p:cNvPicPr>
          <p:nvPr/>
        </p:nvPicPr>
        <p:blipFill>
          <a:blip r:embed="rId6"/>
          <a:stretch>
            <a:fillRect/>
          </a:stretch>
        </p:blipFill>
        <p:spPr>
          <a:xfrm>
            <a:off x="8435340" y="4338828"/>
            <a:ext cx="237744" cy="237744"/>
          </a:xfrm>
          <a:prstGeom prst="rect">
            <a:avLst/>
          </a:prstGeom>
        </p:spPr>
      </p:pic>
      <p:sp>
        <p:nvSpPr>
          <p:cNvPr id="37" name="Capability tag"/>
          <p:cNvSpPr txBox="1"/>
          <p:nvPr/>
        </p:nvSpPr>
        <p:spPr>
          <a:xfrm>
            <a:off x="8942832" y="4251960"/>
            <a:ext cx="2560320" cy="228600"/>
          </a:xfrm>
          <a:prstGeom prst="rect">
            <a:avLst/>
          </a:prstGeom>
          <a:noFill/>
        </p:spPr>
        <p:txBody>
          <a:bodyPr wrap="square" lIns="0" tIns="0" rIns="0" bIns="0" rtlCol="0" anchor="t"/>
          <a:lstStyle/>
          <a:p>
            <a:pPr marL="0" indent="0">
              <a:buNone/>
            </a:pPr>
            <a:r>
              <a:rPr lang="en-US" sz="1000" b="1" kern="0" spc="200" dirty="0">
                <a:solidFill>
                  <a:srgbClr val="A85A00"/>
                </a:solidFill>
              </a:rPr>
              <a:t>ADAPTATION</a:t>
            </a:r>
            <a:endParaRPr lang="en-US" sz="1000" dirty="0"/>
          </a:p>
        </p:txBody>
      </p:sp>
      <p:sp>
        <p:nvSpPr>
          <p:cNvPr id="38" name="Capability heading"/>
          <p:cNvSpPr txBox="1"/>
          <p:nvPr/>
        </p:nvSpPr>
        <p:spPr>
          <a:xfrm>
            <a:off x="8302752" y="4846320"/>
            <a:ext cx="3108960" cy="365760"/>
          </a:xfrm>
          <a:prstGeom prst="rect">
            <a:avLst/>
          </a:prstGeom>
          <a:noFill/>
        </p:spPr>
        <p:txBody>
          <a:bodyPr wrap="square" lIns="0" tIns="0" rIns="0" bIns="0" rtlCol="0" anchor="t"/>
          <a:lstStyle/>
          <a:p>
            <a:pPr marL="0" indent="0">
              <a:buNone/>
            </a:pPr>
            <a:r>
              <a:rPr lang="en-US" sz="1700" b="1" dirty="0">
                <a:solidFill>
                  <a:schemeClr val="tx1"/>
                </a:solidFill>
              </a:rPr>
              <a:t>It adapts mid-flight</a:t>
            </a:r>
            <a:endParaRPr lang="en-US" sz="1700" dirty="0"/>
          </a:p>
        </p:txBody>
      </p:sp>
      <p:sp>
        <p:nvSpPr>
          <p:cNvPr id="39" name="Capability text"/>
          <p:cNvSpPr txBox="1"/>
          <p:nvPr/>
        </p:nvSpPr>
        <p:spPr>
          <a:xfrm>
            <a:off x="8302752" y="5257800"/>
            <a:ext cx="3108960" cy="777240"/>
          </a:xfrm>
          <a:prstGeom prst="rect">
            <a:avLst/>
          </a:prstGeom>
          <a:noFill/>
        </p:spPr>
        <p:txBody>
          <a:bodyPr wrap="square" lIns="0" tIns="0" rIns="0" bIns="0" rtlCol="0" anchor="t"/>
          <a:lstStyle/>
          <a:p>
            <a:pPr marL="0" indent="0">
              <a:buNone/>
            </a:pPr>
            <a:r>
              <a:rPr lang="en-US" sz="1400" dirty="0">
                <a:solidFill>
                  <a:schemeClr val="tx1"/>
                </a:solidFill>
              </a:rPr>
              <a:t>Change a weight and the ranking reorders. Late replies rejoin. Unsure fields return null.</a:t>
            </a:r>
            <a:endParaRPr lang="en-US" sz="1400" dirty="0"/>
          </a:p>
        </p:txBody>
      </p:sp>
      <p:sp>
        <p:nvSpPr>
          <p:cNvPr id="40"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548640" y="347472"/>
            <a:ext cx="8229600" cy="274320"/>
          </a:xfrm>
          <a:prstGeom prst="rect">
            <a:avLst/>
          </a:prstGeom>
          <a:noFill/>
        </p:spPr>
        <p:txBody>
          <a:bodyPr wrap="square" lIns="0" tIns="0" rIns="0" bIns="0" rtlCol="0" anchor="ctr"/>
          <a:lstStyle/>
          <a:p>
            <a:pPr marL="0" indent="0">
              <a:buNone/>
            </a:pPr>
            <a:r>
              <a:rPr lang="en-US" sz="1200" b="1" kern="0" spc="300" dirty="0">
                <a:solidFill>
                  <a:srgbClr val="A85A00"/>
                </a:solidFill>
              </a:rPr>
              <a:t>EXPECTED IMPACT</a:t>
            </a:r>
            <a:endParaRPr lang="en-US" sz="1200" dirty="0"/>
          </a:p>
        </p:txBody>
      </p:sp>
      <p:sp>
        <p:nvSpPr>
          <p:cNvPr id="3" name="Text 0"/>
          <p:cNvSpPr/>
          <p:nvPr>
            <p:ph type="title" idx="100" hasCustomPrompt="1"/>
          </p:nvPr>
        </p:nvSpPr>
        <p:spPr>
          <a:xfrm>
            <a:off x="548640" y="658368"/>
            <a:ext cx="11091672" cy="731520"/>
          </a:xfrm>
          <a:prstGeom prst="rect">
            <a:avLst/>
          </a:prstGeom>
          <a:noFill/>
        </p:spPr>
        <p:txBody>
          <a:bodyPr wrap="square" lIns="0" tIns="0" rIns="0" bIns="0" rtlCol="0" anchor="t"/>
          <a:lstStyle/>
          <a:p>
            <a:pPr marL="0" indent="0" algn="l">
              <a:buNone/>
            </a:pPr>
            <a:r>
              <a:rPr lang="en-US" sz="3400" b="1" dirty="0">
                <a:solidFill>
                  <a:schemeClr val="tx1"/>
                </a:solidFill>
              </a:rPr>
              <a:t>Measured on the running system</a:t>
            </a:r>
            <a:endParaRPr lang="en-US" sz="3400" dirty="0"/>
          </a:p>
        </p:txBody>
      </p:sp>
      <p:sp>
        <p:nvSpPr>
          <p:cNvPr id="4" name="Chart label"/>
          <p:cNvSpPr txBox="1"/>
          <p:nvPr/>
        </p:nvSpPr>
        <p:spPr>
          <a:xfrm>
            <a:off x="548640" y="1627632"/>
            <a:ext cx="6858000" cy="228600"/>
          </a:xfrm>
          <a:prstGeom prst="rect">
            <a:avLst/>
          </a:prstGeom>
          <a:noFill/>
        </p:spPr>
        <p:txBody>
          <a:bodyPr wrap="square" lIns="0" tIns="0" rIns="0" bIns="0" rtlCol="0" anchor="t"/>
          <a:lstStyle/>
          <a:p>
            <a:pPr marL="0" indent="0">
              <a:buNone/>
            </a:pPr>
            <a:r>
              <a:rPr lang="en-US" sz="1100" b="1" kern="0" spc="200" dirty="0">
                <a:solidFill>
                  <a:srgbClr val="5B6478"/>
                </a:solidFill>
              </a:rPr>
              <a:t>QUOTE VALUE, ₹ LAKH</a:t>
            </a:r>
            <a:endParaRPr lang="en-US" sz="1100" dirty="0"/>
          </a:p>
        </p:txBody>
      </p:sp>
      <p:graphicFrame>
        <p:nvGraphicFramePr>
          <p:cNvPr id="5" name="Savings chart"/>
          <p:cNvGraphicFramePr/>
          <p:nvPr/>
        </p:nvGraphicFramePr>
        <p:xfrm>
          <a:off x="457200" y="1874520"/>
          <a:ext cx="7040880" cy="3749040"/>
        </p:xfrm>
        <a:graphic>
          <a:graphicData uri="http://schemas.openxmlformats.org/drawingml/2006/chart">
            <c:chart xmlns:c="http://schemas.openxmlformats.org/drawingml/2006/chart" xmlns:r="http://schemas.openxmlformats.org/officeDocument/2006/relationships" r:id="rId1"/>
          </a:graphicData>
        </a:graphic>
      </p:graphicFrame>
      <p:sp>
        <p:nvSpPr>
          <p:cNvPr id="6" name="Chart caption"/>
          <p:cNvSpPr txBox="1"/>
          <p:nvPr/>
        </p:nvSpPr>
        <p:spPr>
          <a:xfrm>
            <a:off x="548640" y="5760720"/>
            <a:ext cx="6858000" cy="274320"/>
          </a:xfrm>
          <a:prstGeom prst="rect">
            <a:avLst/>
          </a:prstGeom>
          <a:noFill/>
        </p:spPr>
        <p:txBody>
          <a:bodyPr wrap="square" lIns="0" tIns="0" rIns="0" bIns="0" rtlCol="0" anchor="t"/>
          <a:lstStyle/>
          <a:p>
            <a:pPr marL="0" indent="0">
              <a:buNone/>
            </a:pPr>
            <a:r>
              <a:rPr lang="en-US" sz="1200" dirty="0">
                <a:solidFill>
                  <a:srgbClr val="5B6478"/>
                </a:solidFill>
              </a:rPr>
              <a:t>Winning quote vs highest quote on the same requirement.</a:t>
            </a:r>
            <a:endParaRPr lang="en-US" sz="1200" dirty="0"/>
          </a:p>
        </p:txBody>
      </p:sp>
      <p:sp>
        <p:nvSpPr>
          <p:cNvPr id="7" name="Exposure card"/>
          <p:cNvSpPr/>
          <p:nvPr/>
        </p:nvSpPr>
        <p:spPr>
          <a:xfrm>
            <a:off x="7772400" y="1645920"/>
            <a:ext cx="3867912" cy="2926080"/>
          </a:xfrm>
          <a:prstGeom prst="roundRect">
            <a:avLst>
              <a:gd name="adj" fmla="val 3750"/>
            </a:avLst>
          </a:prstGeom>
          <a:solidFill>
            <a:schemeClr val="accent6"/>
          </a:solidFill>
        </p:spPr>
      </p:sp>
      <p:sp>
        <p:nvSpPr>
          <p:cNvPr id="8" name="Exposure label"/>
          <p:cNvSpPr txBox="1"/>
          <p:nvPr/>
        </p:nvSpPr>
        <p:spPr>
          <a:xfrm>
            <a:off x="8046720" y="1847088"/>
            <a:ext cx="3383280" cy="228600"/>
          </a:xfrm>
          <a:prstGeom prst="rect">
            <a:avLst/>
          </a:prstGeom>
          <a:noFill/>
        </p:spPr>
        <p:txBody>
          <a:bodyPr wrap="square" lIns="0" tIns="0" rIns="0" bIns="0" rtlCol="0" anchor="t"/>
          <a:lstStyle/>
          <a:p>
            <a:pPr marL="0" indent="0">
              <a:buNone/>
            </a:pPr>
            <a:r>
              <a:rPr lang="en-US" sz="1000" b="1" kern="0" spc="200" dirty="0">
                <a:solidFill>
                  <a:schemeClr val="accent3"/>
                </a:solidFill>
              </a:rPr>
              <a:t>THE EXPOSURE NOBODY SEES</a:t>
            </a:r>
            <a:endParaRPr lang="en-US" sz="1000" dirty="0"/>
          </a:p>
        </p:txBody>
      </p:sp>
      <p:sp>
        <p:nvSpPr>
          <p:cNvPr id="9" name="Exposure number"/>
          <p:cNvSpPr txBox="1"/>
          <p:nvPr/>
        </p:nvSpPr>
        <p:spPr>
          <a:xfrm>
            <a:off x="8046720" y="2148840"/>
            <a:ext cx="3383280" cy="914400"/>
          </a:xfrm>
          <a:prstGeom prst="rect">
            <a:avLst/>
          </a:prstGeom>
          <a:noFill/>
        </p:spPr>
        <p:txBody>
          <a:bodyPr wrap="square" lIns="0" tIns="0" rIns="0" bIns="0" rtlCol="0" anchor="t"/>
          <a:lstStyle/>
          <a:p>
            <a:pPr marL="0" indent="0">
              <a:buNone/>
            </a:pPr>
            <a:r>
              <a:rPr lang="en-US" sz="6000" b="1" dirty="0">
                <a:solidFill>
                  <a:schemeClr val="accent3"/>
                </a:solidFill>
              </a:rPr>
              <a:t>₹4.6 L</a:t>
            </a:r>
            <a:endParaRPr lang="en-US" sz="6000" dirty="0"/>
          </a:p>
        </p:txBody>
      </p:sp>
      <p:sp>
        <p:nvSpPr>
          <p:cNvPr id="10" name="Exposure text"/>
          <p:cNvSpPr txBox="1"/>
          <p:nvPr/>
        </p:nvSpPr>
        <p:spPr>
          <a:xfrm>
            <a:off x="8046720" y="3200400"/>
            <a:ext cx="3383280" cy="1234440"/>
          </a:xfrm>
          <a:prstGeom prst="rect">
            <a:avLst/>
          </a:prstGeom>
          <a:noFill/>
        </p:spPr>
        <p:txBody>
          <a:bodyPr wrap="square" lIns="0" tIns="0" rIns="0" bIns="0" rtlCol="0" anchor="t"/>
          <a:lstStyle/>
          <a:p>
            <a:pPr marL="0" indent="0">
              <a:buNone/>
            </a:pPr>
            <a:r>
              <a:rPr lang="en-US" sz="1400" dirty="0">
                <a:solidFill>
                  <a:schemeClr val="tx1"/>
                </a:solidFill>
              </a:rPr>
              <a:t>Extra tax due this year on one unpaid ₹18.40 L invoice to a micro supplier, past its 30-day term. Plus interest at 3× bank rate, compounded.</a:t>
            </a:r>
            <a:endParaRPr lang="en-US" sz="1400" dirty="0"/>
          </a:p>
        </p:txBody>
      </p:sp>
      <p:sp>
        <p:nvSpPr>
          <p:cNvPr id="11" name="Fix card"/>
          <p:cNvSpPr/>
          <p:nvPr/>
        </p:nvSpPr>
        <p:spPr>
          <a:xfrm>
            <a:off x="7772400" y="4754880"/>
            <a:ext cx="3867912" cy="868680"/>
          </a:xfrm>
          <a:prstGeom prst="roundRect">
            <a:avLst>
              <a:gd name="adj" fmla="val 12632"/>
            </a:avLst>
          </a:prstGeom>
          <a:solidFill>
            <a:schemeClr val="accent5"/>
          </a:solidFill>
        </p:spPr>
      </p:sp>
      <p:sp>
        <p:nvSpPr>
          <p:cNvPr id="12" name="Fix text"/>
          <p:cNvSpPr txBox="1"/>
          <p:nvPr/>
        </p:nvSpPr>
        <p:spPr>
          <a:xfrm>
            <a:off x="8001000" y="4754880"/>
            <a:ext cx="3429000" cy="868680"/>
          </a:xfrm>
          <a:prstGeom prst="rect">
            <a:avLst/>
          </a:prstGeom>
          <a:noFill/>
        </p:spPr>
        <p:txBody>
          <a:bodyPr wrap="square" lIns="0" tIns="0" rIns="0" bIns="0" rtlCol="0" anchor="ctr"/>
          <a:lstStyle/>
          <a:p>
            <a:pPr marL="0" indent="0">
              <a:buNone/>
            </a:pPr>
            <a:r>
              <a:rPr lang="en-US" sz="1400" b="1" dirty="0">
                <a:solidFill>
                  <a:schemeClr val="accent2"/>
                </a:solidFill>
              </a:rPr>
              <a:t>The fix costs nothing: pay on day 44, not day 46. The value is that somebody knew.</a:t>
            </a:r>
            <a:endParaRPr lang="en-US" sz="1400" dirty="0"/>
          </a:p>
        </p:txBody>
      </p:sp>
      <p:sp>
        <p:nvSpPr>
          <p:cNvPr id="13" name="Law footnote"/>
          <p:cNvSpPr txBox="1"/>
          <p:nvPr/>
        </p:nvSpPr>
        <p:spPr>
          <a:xfrm>
            <a:off x="7772400" y="5760720"/>
            <a:ext cx="3867912" cy="457200"/>
          </a:xfrm>
          <a:prstGeom prst="rect">
            <a:avLst/>
          </a:prstGeom>
          <a:noFill/>
        </p:spPr>
        <p:txBody>
          <a:bodyPr wrap="square" lIns="0" tIns="0" rIns="0" bIns="0" rtlCol="0" anchor="t"/>
          <a:lstStyle/>
          <a:p>
            <a:pPr marL="0" indent="0">
              <a:buNone/>
            </a:pPr>
            <a:r>
              <a:rPr lang="en-US" sz="1200" dirty="0">
                <a:solidFill>
                  <a:srgbClr val="5B6478"/>
                </a:solidFill>
              </a:rPr>
              <a:t>43B(h) binds every Indian buyer with MSME suppliers from FY 2023-24.</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p:spPr>
        <p:txBody>
          <a:bodyPr/>
          <a:lstStyle>
            <a:lvl1pPr>
              <a:defRPr sz="1000">
                <a:solidFill>
                  <a:schemeClr val="tx2"/>
                </a:solidFill>
              </a:defRPr>
            </a:lvl1pPr>
          </a:lstStyle>
          <a:p>
            <a:pPr algn="r"/>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Procurix">
  <a:themeElements>
    <a:clrScheme name="Procurix">
      <a:dk1>
        <a:srgbClr val="0F2342"/>
      </a:dk1>
      <a:lt1>
        <a:srgbClr val="FFFFFF"/>
      </a:lt1>
      <a:dk2>
        <a:srgbClr val="5B6478"/>
      </a:dk2>
      <a:lt2>
        <a:srgbClr val="F1F4F9"/>
      </a:lt2>
      <a:accent1>
        <a:srgbClr val="E8871E"/>
      </a:accent1>
      <a:accent2>
        <a:srgbClr val="1E7B5A"/>
      </a:accent2>
      <a:accent3>
        <a:srgbClr val="B3261E"/>
      </a:accent3>
      <a:accent4>
        <a:srgbClr val="FCE9D0"/>
      </a:accent4>
      <a:accent5>
        <a:srgbClr val="DFF1E8"/>
      </a:accent5>
      <a:accent6>
        <a:srgbClr val="FBE3E0"/>
      </a:accent6>
      <a:hlink>
        <a:srgbClr val="2F5DA8"/>
      </a:hlink>
      <a:folHlink>
        <a:srgbClr val="6B7280"/>
      </a:folHlink>
    </a:clrScheme>
    <a:fontScheme name="Procur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rocurix">
  <a:themeElements>
    <a:clrScheme name="Procurix">
      <a:dk1>
        <a:srgbClr val="0F2342"/>
      </a:dk1>
      <a:lt1>
        <a:srgbClr val="FFFFFF"/>
      </a:lt1>
      <a:dk2>
        <a:srgbClr val="5B6478"/>
      </a:dk2>
      <a:lt2>
        <a:srgbClr val="F1F4F9"/>
      </a:lt2>
      <a:accent1>
        <a:srgbClr val="E8871E"/>
      </a:accent1>
      <a:accent2>
        <a:srgbClr val="1E7B5A"/>
      </a:accent2>
      <a:accent3>
        <a:srgbClr val="B3261E"/>
      </a:accent3>
      <a:accent4>
        <a:srgbClr val="FCE9D0"/>
      </a:accent4>
      <a:accent5>
        <a:srgbClr val="DFF1E8"/>
      </a:accent5>
      <a:accent6>
        <a:srgbClr val="FBE3E0"/>
      </a:accent6>
      <a:hlink>
        <a:srgbClr val="2F5DA8"/>
      </a:hlink>
      <a:folHlink>
        <a:srgbClr val="6B7280"/>
      </a:folHlink>
    </a:clrScheme>
    <a:fontScheme name="Procur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4717</Words>
  <Application>WPS Presentation</Application>
  <PresentationFormat>On-screen Show (16:9)</PresentationFormat>
  <Paragraphs>278</Paragraphs>
  <Slides>9</Slides>
  <Notes>10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9</vt:i4>
      </vt:variant>
    </vt:vector>
  </HeadingPairs>
  <TitlesOfParts>
    <vt:vector size="18" baseType="lpstr">
      <vt:lpstr>Arial</vt:lpstr>
      <vt:lpstr>SimSun</vt:lpstr>
      <vt:lpstr>Wingdings</vt:lpstr>
      <vt:lpstr>Arial</vt:lpstr>
      <vt:lpstr>Calibri</vt:lpstr>
      <vt:lpstr>Cambria</vt:lpstr>
      <vt:lpstr>Microsoft YaHei</vt:lpstr>
      <vt:lpstr>Arial Unicode MS</vt:lpstr>
      <vt:lpstr>Procurix</vt:lpstr>
      <vt:lpstr>Procurix</vt:lpstr>
      <vt:lpstr>Buying is email. Paying late now costs tax</vt:lpstr>
      <vt:lpstr>Built for the one-person procurement team</vt:lpstr>
      <vt:lpstr>Why it has to be an agent, not a form</vt:lpstr>
      <vt:lpstr>One chat box runs the whole buying loop</vt:lpstr>
      <vt:lpstr>The agent decides. Plain code computes.</vt:lpstr>
      <vt:lpstr>One request, end to end</vt:lpstr>
      <vt:lpstr>It sends the mail and reads the reply</vt:lpstr>
      <vt:lpstr>Measured on the running system</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Procurix: WCC Launchpad 30</dc:title>
  <dc:creator>Nikhil Yadav</dc:creator>
  <dc:subject>PptxGenJS Presentation</dc:subject>
  <cp:lastModifiedBy>Nikhil Yadav</cp:lastModifiedBy>
  <cp:revision>2</cp:revision>
  <dcterms:created xsi:type="dcterms:W3CDTF">2026-10-04T10:00:00Z</dcterms:created>
  <dcterms:modified xsi:type="dcterms:W3CDTF">2026-10-04T18:29:03Z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B1B34061C2F54493B61EB1DF9A7EAACE_12</vt:lpwstr>
  </property>
  <property fmtid="{D5CDD505-2E9C-101B-9397-08002B2CF9AE}" pid="3" name="KSOProductBuildVer">
    <vt:lpwstr>1033-12.1.0.28485</vt:lpwstr>
  </property>
</Properties>
</file>